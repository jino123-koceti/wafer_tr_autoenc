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1" r:id="rId7"/>
    <p:sldId id="260" r:id="rId8"/>
    <p:sldId id="262" r:id="rId9"/>
    <p:sldId id="263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5" r:id="rId18"/>
    <p:sldId id="273" r:id="rId19"/>
    <p:sldId id="274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54" d="100"/>
          <a:sy n="54" d="100"/>
        </p:scale>
        <p:origin x="108" y="8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3A9B86-AFB1-3974-40A8-30564F73D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092DD8-7AC0-6FA4-D466-9E456E9FB3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24557A-D066-9657-F9B6-64E861CD9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11F6-2B19-47AC-BB50-7CE1B29B86BB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3B01BD-FDAC-75BA-3BF3-39CA88EC7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DBCB49-278E-96D7-3433-3CC41003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BF2-092B-46E6-A335-31FF93C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24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F0459-791C-1037-B58C-8F3F3D67B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0873C2-6769-E8C6-C794-4A748853B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28B8F8-592E-7C8C-0A2A-CAA8EFF48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11F6-2B19-47AC-BB50-7CE1B29B86BB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120B09-2087-7EF3-432F-47AFBDA44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FB73FA-9A29-3DF4-14EB-BD3D6CD5B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BF2-092B-46E6-A335-31FF93C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1685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839C5-247F-3841-ADFB-4B389F6AA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27A6B2-21FB-BCE0-52D5-1773490FB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4E4FFC-43BD-BDE1-329F-6529EEC80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11F6-2B19-47AC-BB50-7CE1B29B86BB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78028F-B36A-5CB6-2140-1B5FF97AA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C8CE05-8FE6-3CAC-608A-E09A2425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BF2-092B-46E6-A335-31FF93C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270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39E4F-3A84-141E-6FBB-EA48446AD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A99D7A-1B54-767A-B791-340675B702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DE1CBE-BCC1-1B71-3101-CCA378250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36164E-AF95-DEE1-FA1F-918436CD7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11F6-2B19-47AC-BB50-7CE1B29B86BB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8D7048-1746-3A35-1415-1E35FAEB1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1FD9CD-5B33-D236-CB7D-E3F5C6AC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BF2-092B-46E6-A335-31FF93C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689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9E0094-BB6E-EEEF-AC54-F0FECB37C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18C0CB-4521-E4A6-4F8F-251518C72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4E8023-875C-366E-FE1C-815301A36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EC8FDC-E194-6AD1-A1B2-4474A4CC43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47EC46-1608-4AE1-F23F-9B74CDB7CE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2422FB-2B1E-F5D0-5A81-7FE0BD96A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11F6-2B19-47AC-BB50-7CE1B29B86BB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473C9B6-0224-8DFE-442C-011D23598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6CCA27A-F4B6-01B2-CBD3-E624E5C0F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BF2-092B-46E6-A335-31FF93C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49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872CAD-D178-3141-16C4-44CD7982D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FFAE768-6A10-CC30-D08B-D58DC0F72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11F6-2B19-47AC-BB50-7CE1B29B86BB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422EDD-E22E-A63D-8793-36028FD70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E52E96-F69C-DB86-A419-B5C06082B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BF2-092B-46E6-A335-31FF93C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027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4C3D282-85A8-897C-51C6-20D965ACE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11F6-2B19-47AC-BB50-7CE1B29B86BB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7CDA0C-D3C6-1CE9-D90F-49A19A81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CF4489-F4FB-7ABC-C7A9-C20A6F11C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BF2-092B-46E6-A335-31FF93C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50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5DAA18-F914-CBDD-BA55-D2CB1BB4C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3F1A2F-3768-2F3D-4A39-99A4632C3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3C2667-D872-0C82-7B4A-AF2524A7A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07FFB6-BA66-CE91-1D23-FC3ADB1DB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11F6-2B19-47AC-BB50-7CE1B29B86BB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7C27FA-CFF7-66DA-5A2E-3BD5E94E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7D9CA4-FCBF-1065-BFDF-A2BB31B97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BF2-092B-46E6-A335-31FF93C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50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BFAB09-6E5E-2964-7A75-5FF9D3D2C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F7FD900-4000-A728-A59E-F0ABCFDB4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3B03D2-D356-44FF-FEA3-4D3438625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D2E9BE-CF3B-632D-5486-C8CC5146E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11F6-2B19-47AC-BB50-7CE1B29B86BB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4F352F-A5DA-F04A-2441-7596D9024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79A2AF-1647-4072-56D9-EA63F7E5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BF2-092B-46E6-A335-31FF93C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35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F67BF-1ED1-F06B-604C-91A366AF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1E8BBF-2AD2-D5A6-5814-17024F933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29C54F-9F67-552F-D6A1-C8E7E5CE0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11F6-2B19-47AC-BB50-7CE1B29B86BB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A87A3F-E7CF-3CEC-637F-3A278B71A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32823B-FE62-3F6B-1424-C386547F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BF2-092B-46E6-A335-31FF93C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264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49F2DC-E66F-7E0F-DE61-F2B804F0EA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02426F-1706-3A3F-7447-93E5F3890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DA401-32E9-ACCC-34BC-AFF3CC789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11F6-2B19-47AC-BB50-7CE1B29B86BB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EFA008-7C88-BD03-EF89-AF944B9CF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F80512-98D8-3773-1D60-1D499079D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4ABF2-092B-46E6-A335-31FF93C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379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BCD1E0-33A2-A7F7-E32D-94C67A9AB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EBB638-1A59-A2BD-20D8-AEF2B6AE1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8C21BE-941E-2D08-7915-4EB08A878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611F6-2B19-47AC-BB50-7CE1B29B86BB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FF3CC4-AA20-064B-6615-C2DAC525D1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8D236F-CC25-1E37-D21B-E434670C2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4ABF2-092B-46E6-A335-31FF93C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99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1D36D3-6B6D-828C-101B-03E3E0A4F4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Autoencoder </a:t>
            </a:r>
            <a:r>
              <a:rPr lang="ko-KR" altLang="en-US" dirty="0"/>
              <a:t>기반</a:t>
            </a:r>
            <a:br>
              <a:rPr lang="en-US" altLang="ko-KR" dirty="0"/>
            </a:br>
            <a:r>
              <a:rPr lang="ko-KR" altLang="en-US" dirty="0"/>
              <a:t>로봇 고장진단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F637FE-FD2B-2AF4-D65F-AA878A26FC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2025.05.14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9265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2C1526-0F80-4551-BC37-84FBBC40C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프로젝트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41B0A5-F67D-A105-7C9D-74B415342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989" y="2440378"/>
            <a:ext cx="9880271" cy="3289465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altLang="ko-KR" sz="1600" dirty="0" err="1"/>
              <a:t>docker_autoenc</a:t>
            </a:r>
            <a:r>
              <a:rPr lang="en-US" altLang="ko-KR" sz="1600" dirty="0"/>
              <a:t>/                      </a:t>
            </a:r>
            <a:r>
              <a:rPr lang="en-US" altLang="ko-KR" sz="1600" dirty="0">
                <a:solidFill>
                  <a:srgbClr val="00B050"/>
                </a:solidFill>
              </a:rPr>
              <a:t># </a:t>
            </a:r>
            <a:r>
              <a:rPr lang="ko-KR" altLang="en-US" sz="1600" dirty="0">
                <a:solidFill>
                  <a:srgbClr val="00B050"/>
                </a:solidFill>
              </a:rPr>
              <a:t>프로그램 최상위 폴더</a:t>
            </a:r>
            <a:endParaRPr lang="en-US" altLang="ko-KR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US" altLang="ko-KR" sz="1600" dirty="0"/>
              <a:t>├── </a:t>
            </a:r>
            <a:r>
              <a:rPr lang="en-US" altLang="ko-KR" sz="1600" dirty="0" err="1"/>
              <a:t>Dockerfile</a:t>
            </a:r>
            <a:r>
              <a:rPr lang="en-US" altLang="ko-KR" sz="1600" dirty="0"/>
              <a:t>                     </a:t>
            </a:r>
            <a:r>
              <a:rPr lang="en-US" altLang="ko-KR" sz="1600" dirty="0">
                <a:solidFill>
                  <a:srgbClr val="00B050"/>
                </a:solidFill>
              </a:rPr>
              <a:t># Docker </a:t>
            </a:r>
            <a:r>
              <a:rPr lang="ko-KR" altLang="en-US" sz="1600" dirty="0">
                <a:solidFill>
                  <a:srgbClr val="00B050"/>
                </a:solidFill>
              </a:rPr>
              <a:t>환경 설정 파일</a:t>
            </a:r>
            <a:r>
              <a:rPr lang="en-US" altLang="ko-KR" sz="1600" dirty="0">
                <a:solidFill>
                  <a:srgbClr val="00B050"/>
                </a:solidFill>
              </a:rPr>
              <a:t>(python, </a:t>
            </a:r>
            <a:r>
              <a:rPr lang="en-US" altLang="ko-KR" sz="1600" dirty="0" err="1">
                <a:solidFill>
                  <a:srgbClr val="00B050"/>
                </a:solidFill>
              </a:rPr>
              <a:t>pytorch</a:t>
            </a:r>
            <a:r>
              <a:rPr lang="en-US" altLang="ko-KR" sz="1600" dirty="0">
                <a:solidFill>
                  <a:srgbClr val="00B050"/>
                </a:solidFill>
              </a:rPr>
              <a:t>,</a:t>
            </a:r>
            <a:r>
              <a:rPr lang="ko-KR" altLang="en-US" sz="1600" dirty="0">
                <a:solidFill>
                  <a:srgbClr val="00B050"/>
                </a:solidFill>
              </a:rPr>
              <a:t>필요한 라이브러리 자동 설치</a:t>
            </a:r>
            <a:r>
              <a:rPr lang="en-US" altLang="ko-KR" sz="1600" dirty="0">
                <a:solidFill>
                  <a:srgbClr val="00B050"/>
                </a:solidFill>
              </a:rPr>
              <a:t>)</a:t>
            </a:r>
            <a:endParaRPr lang="ko-KR" altLang="en-US" sz="1600" dirty="0">
              <a:solidFill>
                <a:srgbClr val="00B050"/>
              </a:solidFill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ko-KR" altLang="en-US" sz="1600" dirty="0"/>
              <a:t>├── </a:t>
            </a:r>
            <a:r>
              <a:rPr lang="en-US" altLang="ko-KR" sz="1600" dirty="0"/>
              <a:t>models/                        </a:t>
            </a:r>
            <a:r>
              <a:rPr lang="en-US" altLang="ko-KR" sz="1600" dirty="0">
                <a:solidFill>
                  <a:srgbClr val="00B050"/>
                </a:solidFill>
              </a:rPr>
              <a:t># </a:t>
            </a:r>
            <a:r>
              <a:rPr lang="ko-KR" altLang="en-US" sz="1600" dirty="0">
                <a:solidFill>
                  <a:srgbClr val="00B050"/>
                </a:solidFill>
              </a:rPr>
              <a:t>학습된 </a:t>
            </a:r>
            <a:r>
              <a:rPr lang="en-US" altLang="ko-KR" sz="1600" dirty="0">
                <a:solidFill>
                  <a:srgbClr val="00B050"/>
                </a:solidFill>
              </a:rPr>
              <a:t>Autoencoder </a:t>
            </a:r>
            <a:r>
              <a:rPr lang="ko-KR" altLang="en-US" sz="1600" dirty="0">
                <a:solidFill>
                  <a:srgbClr val="00B050"/>
                </a:solidFill>
              </a:rPr>
              <a:t>모델 파일</a:t>
            </a:r>
            <a:r>
              <a:rPr lang="en-US" altLang="ko-KR" sz="1600" dirty="0">
                <a:solidFill>
                  <a:srgbClr val="00B050"/>
                </a:solidFill>
              </a:rPr>
              <a:t>(.</a:t>
            </a:r>
            <a:r>
              <a:rPr lang="en-US" altLang="ko-KR" sz="1600" dirty="0" err="1">
                <a:solidFill>
                  <a:srgbClr val="00B050"/>
                </a:solidFill>
              </a:rPr>
              <a:t>pth</a:t>
            </a:r>
            <a:r>
              <a:rPr lang="en-US" altLang="ko-KR" sz="1600" dirty="0">
                <a:solidFill>
                  <a:srgbClr val="00B050"/>
                </a:solidFill>
              </a:rPr>
              <a:t>) </a:t>
            </a:r>
            <a:r>
              <a:rPr lang="ko-KR" altLang="en-US" sz="1600" dirty="0">
                <a:solidFill>
                  <a:srgbClr val="00B050"/>
                </a:solidFill>
              </a:rPr>
              <a:t>보관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ko-KR" altLang="en-US" sz="1600" dirty="0"/>
              <a:t>│   └── </a:t>
            </a:r>
            <a:r>
              <a:rPr lang="en-US" altLang="ko-KR" sz="1600" dirty="0" err="1"/>
              <a:t>autoencoder.pth</a:t>
            </a:r>
            <a:r>
              <a:rPr lang="en-US" altLang="ko-KR" sz="1600" dirty="0"/>
              <a:t>        </a:t>
            </a:r>
            <a:r>
              <a:rPr lang="en-US" altLang="ko-KR" sz="1600" dirty="0">
                <a:solidFill>
                  <a:srgbClr val="00B050"/>
                </a:solidFill>
              </a:rPr>
              <a:t># - </a:t>
            </a:r>
            <a:r>
              <a:rPr lang="ko-KR" altLang="en-US" sz="1600" dirty="0">
                <a:solidFill>
                  <a:srgbClr val="00B050"/>
                </a:solidFill>
              </a:rPr>
              <a:t>기본 파일 </a:t>
            </a:r>
            <a:r>
              <a:rPr lang="en-US" altLang="ko-KR" sz="1600" dirty="0">
                <a:solidFill>
                  <a:srgbClr val="00B050"/>
                </a:solidFill>
              </a:rPr>
              <a:t>: </a:t>
            </a:r>
            <a:r>
              <a:rPr lang="en-US" altLang="ko-KR" sz="1600" dirty="0" err="1">
                <a:solidFill>
                  <a:srgbClr val="00B050"/>
                </a:solidFill>
              </a:rPr>
              <a:t>autoencoder.pth</a:t>
            </a:r>
            <a:endParaRPr lang="en-US" altLang="ko-KR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US" altLang="ko-KR" sz="1600" dirty="0"/>
              <a:t>├── requirements.txt              </a:t>
            </a:r>
            <a:r>
              <a:rPr lang="en-US" altLang="ko-KR" sz="1600" dirty="0">
                <a:solidFill>
                  <a:srgbClr val="00B050"/>
                </a:solidFill>
              </a:rPr>
              <a:t># </a:t>
            </a:r>
            <a:r>
              <a:rPr lang="ko-KR" altLang="en-US" sz="1600" dirty="0">
                <a:solidFill>
                  <a:srgbClr val="00B050"/>
                </a:solidFill>
              </a:rPr>
              <a:t>실행에 필요한 </a:t>
            </a:r>
            <a:r>
              <a:rPr lang="en-US" altLang="ko-KR" sz="1600" dirty="0">
                <a:solidFill>
                  <a:srgbClr val="00B050"/>
                </a:solidFill>
              </a:rPr>
              <a:t>Python </a:t>
            </a:r>
            <a:r>
              <a:rPr lang="ko-KR" altLang="en-US" sz="1600" dirty="0">
                <a:solidFill>
                  <a:srgbClr val="00B050"/>
                </a:solidFill>
              </a:rPr>
              <a:t>패키지 목록</a:t>
            </a:r>
            <a:r>
              <a:rPr lang="en-US" altLang="ko-KR" sz="1600" dirty="0">
                <a:solidFill>
                  <a:srgbClr val="00B050"/>
                </a:solidFill>
              </a:rPr>
              <a:t>(torch, </a:t>
            </a:r>
            <a:r>
              <a:rPr lang="en-US" altLang="ko-KR" sz="1600" dirty="0" err="1">
                <a:solidFill>
                  <a:srgbClr val="00B050"/>
                </a:solidFill>
              </a:rPr>
              <a:t>torchvision</a:t>
            </a:r>
            <a:r>
              <a:rPr lang="en-US" altLang="ko-KR" sz="1600" dirty="0">
                <a:solidFill>
                  <a:srgbClr val="00B050"/>
                </a:solidFill>
              </a:rPr>
              <a:t>, </a:t>
            </a:r>
            <a:r>
              <a:rPr lang="en-US" altLang="ko-KR" sz="1600" dirty="0" err="1">
                <a:solidFill>
                  <a:srgbClr val="00B050"/>
                </a:solidFill>
              </a:rPr>
              <a:t>numpy</a:t>
            </a:r>
            <a:r>
              <a:rPr lang="en-US" altLang="ko-KR" sz="1600" dirty="0">
                <a:solidFill>
                  <a:srgbClr val="00B050"/>
                </a:solidFill>
              </a:rPr>
              <a:t> </a:t>
            </a:r>
            <a:r>
              <a:rPr lang="ko-KR" altLang="en-US" sz="1600" dirty="0">
                <a:solidFill>
                  <a:srgbClr val="00B050"/>
                </a:solidFill>
              </a:rPr>
              <a:t>등</a:t>
            </a:r>
            <a:r>
              <a:rPr lang="en-US" altLang="ko-KR" sz="1600" dirty="0">
                <a:solidFill>
                  <a:srgbClr val="00B050"/>
                </a:solidFill>
              </a:rPr>
              <a:t>)</a:t>
            </a:r>
            <a:endParaRPr lang="ko-KR" altLang="en-US" sz="1600" dirty="0">
              <a:solidFill>
                <a:srgbClr val="00B050"/>
              </a:solidFill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ko-KR" altLang="en-US" sz="1600" dirty="0"/>
              <a:t>└── </a:t>
            </a:r>
            <a:r>
              <a:rPr lang="en-US" altLang="ko-KR" sz="1600" dirty="0" err="1"/>
              <a:t>src</a:t>
            </a:r>
            <a:r>
              <a:rPr lang="en-US" altLang="ko-KR" sz="1600" dirty="0"/>
              <a:t>/                              </a:t>
            </a:r>
            <a:r>
              <a:rPr lang="en-US" altLang="ko-KR" sz="1600" dirty="0">
                <a:solidFill>
                  <a:srgbClr val="00B050"/>
                </a:solidFill>
              </a:rPr>
              <a:t># </a:t>
            </a:r>
            <a:r>
              <a:rPr lang="ko-KR" altLang="en-US" sz="1600" dirty="0">
                <a:solidFill>
                  <a:srgbClr val="00B050"/>
                </a:solidFill>
              </a:rPr>
              <a:t>실제 소스 코드 및 데이터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ko-KR" altLang="en-US" sz="1600" dirty="0"/>
              <a:t>    ├── </a:t>
            </a:r>
            <a:r>
              <a:rPr lang="en-US" altLang="ko-KR" sz="1600" dirty="0"/>
              <a:t>check_faulty_data.py     </a:t>
            </a:r>
            <a:r>
              <a:rPr lang="en-US" altLang="ko-KR" sz="1600" dirty="0">
                <a:solidFill>
                  <a:srgbClr val="00B050"/>
                </a:solidFill>
              </a:rPr>
              <a:t># </a:t>
            </a:r>
            <a:r>
              <a:rPr lang="ko-KR" altLang="en-US" sz="1600" dirty="0">
                <a:solidFill>
                  <a:srgbClr val="00B050"/>
                </a:solidFill>
              </a:rPr>
              <a:t>고장 데이터 판별 스크립트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ko-KR" altLang="en-US" sz="1600" dirty="0"/>
              <a:t>    ├── </a:t>
            </a:r>
            <a:r>
              <a:rPr lang="en-US" altLang="ko-KR" sz="1600" dirty="0"/>
              <a:t>check_faulty_data2.py    </a:t>
            </a:r>
            <a:r>
              <a:rPr lang="en-US" altLang="ko-KR" sz="1600" dirty="0">
                <a:solidFill>
                  <a:srgbClr val="00B050"/>
                </a:solidFill>
              </a:rPr>
              <a:t># (</a:t>
            </a:r>
            <a:r>
              <a:rPr lang="ko-KR" altLang="en-US" sz="1600" dirty="0" err="1">
                <a:solidFill>
                  <a:srgbClr val="00B050"/>
                </a:solidFill>
              </a:rPr>
              <a:t>확장판</a:t>
            </a:r>
            <a:r>
              <a:rPr lang="en-US" altLang="ko-KR" sz="1600" dirty="0">
                <a:solidFill>
                  <a:srgbClr val="00B050"/>
                </a:solidFill>
              </a:rPr>
              <a:t>) </a:t>
            </a:r>
            <a:r>
              <a:rPr lang="ko-KR" altLang="en-US" sz="1600" dirty="0">
                <a:solidFill>
                  <a:srgbClr val="00B050"/>
                </a:solidFill>
              </a:rPr>
              <a:t>고장 판별 스크립트 </a:t>
            </a:r>
            <a:r>
              <a:rPr lang="en-US" altLang="ko-KR" sz="1600" dirty="0">
                <a:solidFill>
                  <a:srgbClr val="00B050"/>
                </a:solidFill>
              </a:rPr>
              <a:t>(</a:t>
            </a:r>
            <a:r>
              <a:rPr lang="ko-KR" altLang="en-US" sz="1600" dirty="0">
                <a:solidFill>
                  <a:srgbClr val="00B050"/>
                </a:solidFill>
              </a:rPr>
              <a:t>옵션 추가</a:t>
            </a:r>
            <a:r>
              <a:rPr lang="en-US" altLang="ko-KR" sz="1600" dirty="0">
                <a:solidFill>
                  <a:srgbClr val="00B050"/>
                </a:solidFill>
              </a:rPr>
              <a:t>, </a:t>
            </a:r>
            <a:r>
              <a:rPr lang="ko-KR" altLang="en-US" sz="1600" dirty="0">
                <a:solidFill>
                  <a:srgbClr val="00B050"/>
                </a:solidFill>
              </a:rPr>
              <a:t>분석 고도화</a:t>
            </a:r>
            <a:r>
              <a:rPr lang="en-US" altLang="ko-KR" sz="1600" dirty="0">
                <a:solidFill>
                  <a:srgbClr val="00B050"/>
                </a:solidFill>
              </a:rPr>
              <a:t>)</a:t>
            </a:r>
            <a:endParaRPr lang="ko-KR" altLang="en-US" sz="1600" dirty="0">
              <a:solidFill>
                <a:srgbClr val="00B050"/>
              </a:solidFill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ko-KR" altLang="en-US" sz="1600" dirty="0"/>
              <a:t>    ├── </a:t>
            </a:r>
            <a:r>
              <a:rPr lang="en-US" altLang="ko-KR" sz="1600" dirty="0"/>
              <a:t>check_learning_data.py  </a:t>
            </a:r>
            <a:r>
              <a:rPr lang="en-US" altLang="ko-KR" sz="1600" dirty="0">
                <a:solidFill>
                  <a:srgbClr val="00B050"/>
                </a:solidFill>
              </a:rPr>
              <a:t># </a:t>
            </a:r>
            <a:r>
              <a:rPr lang="ko-KR" altLang="en-US" sz="1600" dirty="0">
                <a:solidFill>
                  <a:srgbClr val="00B050"/>
                </a:solidFill>
              </a:rPr>
              <a:t>학습 데이터 확인 스크립트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ko-KR" altLang="en-US" sz="1600" dirty="0"/>
              <a:t>    ├── </a:t>
            </a:r>
            <a:r>
              <a:rPr lang="en-US" altLang="ko-KR" sz="1600" dirty="0"/>
              <a:t>train_autoenc.py           </a:t>
            </a:r>
            <a:r>
              <a:rPr lang="en-US" altLang="ko-KR" sz="1600" dirty="0">
                <a:solidFill>
                  <a:srgbClr val="00B050"/>
                </a:solidFill>
              </a:rPr>
              <a:t># Autoencoder </a:t>
            </a:r>
            <a:r>
              <a:rPr lang="ko-KR" altLang="en-US" sz="1600" dirty="0">
                <a:solidFill>
                  <a:srgbClr val="00B050"/>
                </a:solidFill>
              </a:rPr>
              <a:t>학습 스크립트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ko-KR" altLang="en-US" sz="1600" dirty="0"/>
              <a:t>    ├── </a:t>
            </a:r>
            <a:r>
              <a:rPr lang="en-US" altLang="ko-KR" sz="1600" dirty="0"/>
              <a:t>models/                     </a:t>
            </a:r>
            <a:r>
              <a:rPr lang="en-US" altLang="ko-KR" sz="1600" dirty="0">
                <a:solidFill>
                  <a:srgbClr val="00B050"/>
                </a:solidFill>
              </a:rPr>
              <a:t># (</a:t>
            </a:r>
            <a:r>
              <a:rPr lang="ko-KR" altLang="en-US" sz="1600" dirty="0" err="1">
                <a:solidFill>
                  <a:srgbClr val="00B050"/>
                </a:solidFill>
              </a:rPr>
              <a:t>비워둠</a:t>
            </a:r>
            <a:r>
              <a:rPr lang="en-US" altLang="ko-KR" sz="1600" dirty="0">
                <a:solidFill>
                  <a:srgbClr val="00B050"/>
                </a:solidFill>
              </a:rPr>
              <a:t>) </a:t>
            </a:r>
            <a:r>
              <a:rPr lang="ko-KR" altLang="en-US" sz="1600" dirty="0">
                <a:solidFill>
                  <a:srgbClr val="00B050"/>
                </a:solidFill>
              </a:rPr>
              <a:t>소스코드 내 모델 디렉토리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ko-KR" altLang="en-US" sz="1600" dirty="0"/>
              <a:t>    └── </a:t>
            </a:r>
            <a:r>
              <a:rPr lang="en-US" altLang="ko-KR" sz="1600" dirty="0" err="1"/>
              <a:t>wafer_data</a:t>
            </a:r>
            <a:r>
              <a:rPr lang="en-US" altLang="ko-KR" sz="1600" dirty="0"/>
              <a:t>/                 </a:t>
            </a:r>
            <a:r>
              <a:rPr lang="en-US" altLang="ko-KR" sz="1600" dirty="0">
                <a:solidFill>
                  <a:srgbClr val="00B050"/>
                </a:solidFill>
              </a:rPr>
              <a:t># </a:t>
            </a:r>
            <a:r>
              <a:rPr lang="ko-KR" altLang="en-US" sz="1600" dirty="0">
                <a:solidFill>
                  <a:srgbClr val="00B050"/>
                </a:solidFill>
              </a:rPr>
              <a:t>분석 대상 데이터</a:t>
            </a:r>
            <a:r>
              <a:rPr lang="en-US" altLang="ko-KR" sz="1600" dirty="0">
                <a:solidFill>
                  <a:srgbClr val="00B050"/>
                </a:solidFill>
              </a:rPr>
              <a:t>(.txt, .csv)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8B5FE95-B524-3534-16E8-A027EE9A4A72}"/>
              </a:ext>
            </a:extLst>
          </p:cNvPr>
          <p:cNvSpPr txBox="1">
            <a:spLocks/>
          </p:cNvSpPr>
          <p:nvPr/>
        </p:nvSpPr>
        <p:spPr>
          <a:xfrm>
            <a:off x="220683" y="1021277"/>
            <a:ext cx="11132127" cy="1092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ko-KR" sz="1800" b="1" dirty="0"/>
              <a:t>Autoencoder </a:t>
            </a:r>
            <a:r>
              <a:rPr lang="ko-KR" altLang="en-US" sz="1800" b="1" dirty="0"/>
              <a:t>기반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로봇 고장 진단 프로그램은 </a:t>
            </a:r>
            <a:r>
              <a:rPr lang="en-US" altLang="ko-KR" sz="1800" b="1" dirty="0"/>
              <a:t>Docker </a:t>
            </a:r>
            <a:r>
              <a:rPr lang="ko-KR" altLang="en-US" sz="1800" b="1" dirty="0"/>
              <a:t>환경으로 패키징 되어 있음</a:t>
            </a:r>
            <a:endParaRPr lang="en-US" altLang="ko-KR" sz="1800" b="1" dirty="0"/>
          </a:p>
          <a:p>
            <a:pPr>
              <a:spcBef>
                <a:spcPts val="300"/>
              </a:spcBef>
            </a:pPr>
            <a:endParaRPr lang="en-US" altLang="ko-KR" sz="1800" b="1" dirty="0"/>
          </a:p>
          <a:p>
            <a:pPr>
              <a:spcBef>
                <a:spcPts val="300"/>
              </a:spcBef>
            </a:pPr>
            <a:r>
              <a:rPr lang="ko-KR" altLang="en-US" sz="1800" b="1" dirty="0">
                <a:solidFill>
                  <a:srgbClr val="FF0000"/>
                </a:solidFill>
              </a:rPr>
              <a:t>반드시 </a:t>
            </a:r>
            <a:r>
              <a:rPr lang="en-US" altLang="ko-KR" sz="1800" b="1" dirty="0">
                <a:solidFill>
                  <a:srgbClr val="FF0000"/>
                </a:solidFill>
              </a:rPr>
              <a:t>Docker</a:t>
            </a:r>
            <a:r>
              <a:rPr lang="ko-KR" altLang="en-US" sz="1800" b="1" dirty="0">
                <a:solidFill>
                  <a:srgbClr val="FF0000"/>
                </a:solidFill>
              </a:rPr>
              <a:t>를 사용할 필요는 없으며</a:t>
            </a:r>
            <a:r>
              <a:rPr lang="en-US" altLang="ko-KR" sz="1800" b="1" dirty="0">
                <a:solidFill>
                  <a:srgbClr val="FF0000"/>
                </a:solidFill>
              </a:rPr>
              <a:t>, </a:t>
            </a:r>
            <a:r>
              <a:rPr lang="en-US" altLang="ko-KR" sz="1800" b="1" dirty="0" err="1">
                <a:solidFill>
                  <a:srgbClr val="FF0000"/>
                </a:solidFill>
              </a:rPr>
              <a:t>src</a:t>
            </a:r>
            <a:r>
              <a:rPr lang="en-US" altLang="ko-KR" sz="1800" b="1" dirty="0">
                <a:solidFill>
                  <a:srgbClr val="FF0000"/>
                </a:solidFill>
              </a:rPr>
              <a:t>/ </a:t>
            </a:r>
            <a:r>
              <a:rPr lang="ko-KR" altLang="en-US" sz="1800" b="1" dirty="0">
                <a:solidFill>
                  <a:srgbClr val="FF0000"/>
                </a:solidFill>
              </a:rPr>
              <a:t>폴더 내 </a:t>
            </a:r>
            <a:r>
              <a:rPr lang="en-US" altLang="ko-KR" sz="1800" b="1" dirty="0">
                <a:solidFill>
                  <a:srgbClr val="FF0000"/>
                </a:solidFill>
              </a:rPr>
              <a:t>Python </a:t>
            </a:r>
            <a:r>
              <a:rPr lang="ko-KR" altLang="en-US" sz="1800" b="1" dirty="0">
                <a:solidFill>
                  <a:srgbClr val="FF0000"/>
                </a:solidFill>
              </a:rPr>
              <a:t>코드 만으로도 로컬에서 실행할 수 있음</a:t>
            </a:r>
            <a:endParaRPr lang="en-US" altLang="ko-KR" sz="1800" b="1" dirty="0">
              <a:solidFill>
                <a:srgbClr val="FF0000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B082A02-AB53-0A42-8A43-ACE89BCC1C39}"/>
              </a:ext>
            </a:extLst>
          </p:cNvPr>
          <p:cNvSpPr/>
          <p:nvPr/>
        </p:nvSpPr>
        <p:spPr>
          <a:xfrm>
            <a:off x="773380" y="2339438"/>
            <a:ext cx="10335491" cy="3390405"/>
          </a:xfrm>
          <a:prstGeom prst="roundRect">
            <a:avLst>
              <a:gd name="adj" fmla="val 580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098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6E107-6A1B-7047-7872-3E1BEF4D5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DA3F3E-E359-4FFF-BBA3-8BEB8BEFA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2. Docker </a:t>
            </a:r>
            <a:r>
              <a:rPr lang="ko-KR" altLang="en-US" dirty="0"/>
              <a:t>환경 구성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5DBF205-E67B-0FE9-C40C-E4978D0C9D0C}"/>
              </a:ext>
            </a:extLst>
          </p:cNvPr>
          <p:cNvSpPr txBox="1">
            <a:spLocks/>
          </p:cNvSpPr>
          <p:nvPr/>
        </p:nvSpPr>
        <p:spPr>
          <a:xfrm>
            <a:off x="220683" y="1021278"/>
            <a:ext cx="11132127" cy="439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ko-KR" sz="1800" b="1" dirty="0">
                <a:solidFill>
                  <a:srgbClr val="FF0000"/>
                </a:solidFill>
              </a:rPr>
              <a:t>Docker </a:t>
            </a:r>
            <a:r>
              <a:rPr lang="ko-KR" altLang="en-US" sz="1800" b="1" dirty="0">
                <a:solidFill>
                  <a:srgbClr val="FF0000"/>
                </a:solidFill>
              </a:rPr>
              <a:t>환경 사용 </a:t>
            </a:r>
            <a:r>
              <a:rPr lang="ko-KR" altLang="en-US" sz="1800" b="1" dirty="0" err="1">
                <a:solidFill>
                  <a:srgbClr val="FF0000"/>
                </a:solidFill>
              </a:rPr>
              <a:t>안할</a:t>
            </a:r>
            <a:r>
              <a:rPr lang="ko-KR" altLang="en-US" sz="1800" b="1" dirty="0">
                <a:solidFill>
                  <a:srgbClr val="FF0000"/>
                </a:solidFill>
              </a:rPr>
              <a:t> 시</a:t>
            </a:r>
            <a:r>
              <a:rPr lang="en-US" altLang="ko-KR" sz="1800" b="1" dirty="0">
                <a:solidFill>
                  <a:srgbClr val="FF0000"/>
                </a:solidFill>
              </a:rPr>
              <a:t>, </a:t>
            </a:r>
            <a:r>
              <a:rPr lang="ko-KR" altLang="en-US" sz="1800" b="1" dirty="0">
                <a:solidFill>
                  <a:srgbClr val="FF0000"/>
                </a:solidFill>
              </a:rPr>
              <a:t>건너뛰어도 무방함</a:t>
            </a:r>
            <a:endParaRPr lang="en-US" altLang="ko-KR" sz="1800" b="1" dirty="0">
              <a:solidFill>
                <a:srgbClr val="FF0000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C860AC7-9B3F-C01E-94EC-E23CDCABF70D}"/>
              </a:ext>
            </a:extLst>
          </p:cNvPr>
          <p:cNvGrpSpPr/>
          <p:nvPr/>
        </p:nvGrpSpPr>
        <p:grpSpPr>
          <a:xfrm>
            <a:off x="619000" y="1996756"/>
            <a:ext cx="10335491" cy="855026"/>
            <a:chOff x="773380" y="2339439"/>
            <a:chExt cx="10335491" cy="855026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635A58E7-0F0C-9957-145F-6A1DCCD31027}"/>
                </a:ext>
              </a:extLst>
            </p:cNvPr>
            <p:cNvSpPr/>
            <p:nvPr/>
          </p:nvSpPr>
          <p:spPr>
            <a:xfrm>
              <a:off x="773380" y="2339439"/>
              <a:ext cx="10335491" cy="855026"/>
            </a:xfrm>
            <a:prstGeom prst="roundRect">
              <a:avLst>
                <a:gd name="adj" fmla="val 580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0E5FCF0-932E-623A-9C8F-A51331D90BD7}"/>
                </a:ext>
              </a:extLst>
            </p:cNvPr>
            <p:cNvSpPr txBox="1"/>
            <p:nvPr/>
          </p:nvSpPr>
          <p:spPr>
            <a:xfrm>
              <a:off x="940625" y="2443786"/>
              <a:ext cx="622267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dirty="0" err="1">
                  <a:solidFill>
                    <a:schemeClr val="accent2"/>
                  </a:solidFill>
                </a:rPr>
                <a:t>cd</a:t>
              </a:r>
              <a:r>
                <a:rPr lang="ko-KR" altLang="en-US" dirty="0"/>
                <a:t> ~/</a:t>
              </a:r>
              <a:r>
                <a:rPr lang="ko-KR" altLang="en-US" dirty="0" err="1"/>
                <a:t>docker_autoenc</a:t>
              </a:r>
              <a:endParaRPr lang="ko-KR" altLang="en-US" dirty="0"/>
            </a:p>
            <a:p>
              <a:r>
                <a:rPr lang="ko-KR" altLang="en-US" dirty="0" err="1"/>
                <a:t>sudo</a:t>
              </a:r>
              <a:r>
                <a:rPr lang="ko-KR" altLang="en-US" dirty="0"/>
                <a:t> </a:t>
              </a:r>
              <a:r>
                <a:rPr lang="ko-KR" altLang="en-US" dirty="0" err="1"/>
                <a:t>docker</a:t>
              </a:r>
              <a:r>
                <a:rPr lang="ko-KR" altLang="en-US" dirty="0"/>
                <a:t> </a:t>
              </a:r>
              <a:r>
                <a:rPr lang="ko-KR" altLang="en-US" dirty="0" err="1"/>
                <a:t>build</a:t>
              </a:r>
              <a:r>
                <a:rPr lang="ko-KR" altLang="en-US" dirty="0"/>
                <a:t> -</a:t>
              </a:r>
              <a:r>
                <a:rPr lang="ko-KR" altLang="en-US" dirty="0" err="1"/>
                <a:t>t</a:t>
              </a:r>
              <a:r>
                <a:rPr lang="ko-KR" altLang="en-US" dirty="0"/>
                <a:t> </a:t>
              </a:r>
              <a:r>
                <a:rPr lang="ko-KR" altLang="en-US" dirty="0" err="1"/>
                <a:t>autoenc_pytorch</a:t>
              </a:r>
              <a:r>
                <a:rPr lang="ko-KR" altLang="en-US" dirty="0"/>
                <a:t> .</a:t>
              </a:r>
            </a:p>
          </p:txBody>
        </p:sp>
      </p:grp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0654EED9-8753-DF76-DF1F-16DE52B53EB2}"/>
              </a:ext>
            </a:extLst>
          </p:cNvPr>
          <p:cNvSpPr txBox="1">
            <a:spLocks/>
          </p:cNvSpPr>
          <p:nvPr/>
        </p:nvSpPr>
        <p:spPr>
          <a:xfrm>
            <a:off x="220683" y="1557367"/>
            <a:ext cx="11132127" cy="439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ko-KR" altLang="en-US" sz="1800" b="1" dirty="0"/>
              <a:t>코드 수정 되었을 경우 </a:t>
            </a:r>
            <a:r>
              <a:rPr lang="en-US" altLang="ko-KR" sz="1800" b="1" dirty="0"/>
              <a:t>Docker </a:t>
            </a:r>
            <a:r>
              <a:rPr lang="ko-KR" altLang="en-US" sz="1800" b="1" dirty="0"/>
              <a:t>이미지 빌드 해주어야 함</a:t>
            </a:r>
            <a:endParaRPr lang="en-US" altLang="ko-KR" sz="1800" b="1" dirty="0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968BCA57-C31D-6BF2-096A-9C66DEACFECB}"/>
              </a:ext>
            </a:extLst>
          </p:cNvPr>
          <p:cNvSpPr txBox="1">
            <a:spLocks/>
          </p:cNvSpPr>
          <p:nvPr/>
        </p:nvSpPr>
        <p:spPr>
          <a:xfrm>
            <a:off x="273628" y="3387872"/>
            <a:ext cx="11132127" cy="439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ko-KR" sz="1800" b="1" dirty="0"/>
              <a:t>Docker </a:t>
            </a:r>
            <a:r>
              <a:rPr lang="ko-KR" altLang="en-US" sz="1800" b="1" dirty="0"/>
              <a:t>컨테이너 실행</a:t>
            </a:r>
            <a:r>
              <a:rPr lang="en-US" altLang="ko-KR" sz="1800" b="1" dirty="0"/>
              <a:t>(with </a:t>
            </a:r>
            <a:r>
              <a:rPr lang="ko-KR" altLang="en-US" sz="1800" b="1" dirty="0"/>
              <a:t>모델 </a:t>
            </a:r>
            <a:r>
              <a:rPr lang="en-US" altLang="ko-KR" sz="1800" b="1" dirty="0"/>
              <a:t>&amp; </a:t>
            </a:r>
            <a:r>
              <a:rPr lang="ko-KR" altLang="en-US" sz="1800" b="1" dirty="0"/>
              <a:t>데이터</a:t>
            </a:r>
            <a:r>
              <a:rPr lang="en-US" altLang="ko-KR" sz="1800" b="1" dirty="0"/>
              <a:t>)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904F130-988B-1C97-9CF4-1516FB90C257}"/>
              </a:ext>
            </a:extLst>
          </p:cNvPr>
          <p:cNvGrpSpPr/>
          <p:nvPr/>
        </p:nvGrpSpPr>
        <p:grpSpPr>
          <a:xfrm>
            <a:off x="671945" y="3827261"/>
            <a:ext cx="10335491" cy="1304676"/>
            <a:chOff x="671945" y="3827261"/>
            <a:chExt cx="10335491" cy="1304676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F81832E6-9F8A-74DD-C24E-32F346C94F5F}"/>
                </a:ext>
              </a:extLst>
            </p:cNvPr>
            <p:cNvGrpSpPr/>
            <p:nvPr/>
          </p:nvGrpSpPr>
          <p:grpSpPr>
            <a:xfrm>
              <a:off x="671945" y="3827261"/>
              <a:ext cx="10335491" cy="1304676"/>
              <a:chOff x="773380" y="2339439"/>
              <a:chExt cx="10335491" cy="1304676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F76ECC44-3BE1-C8CC-9335-1A876FC2CCE2}"/>
                  </a:ext>
                </a:extLst>
              </p:cNvPr>
              <p:cNvSpPr/>
              <p:nvPr/>
            </p:nvSpPr>
            <p:spPr>
              <a:xfrm>
                <a:off x="773380" y="2339439"/>
                <a:ext cx="10335491" cy="1304676"/>
              </a:xfrm>
              <a:prstGeom prst="roundRect">
                <a:avLst>
                  <a:gd name="adj" fmla="val 5809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80A8254-C12A-DE84-EA7E-6F83898DC63C}"/>
                  </a:ext>
                </a:extLst>
              </p:cNvPr>
              <p:cNvSpPr txBox="1"/>
              <p:nvPr/>
            </p:nvSpPr>
            <p:spPr>
              <a:xfrm>
                <a:off x="887680" y="2391612"/>
                <a:ext cx="622267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 err="1"/>
                  <a:t>sudo</a:t>
                </a:r>
                <a:r>
                  <a:rPr lang="en-US" altLang="ko-KR" dirty="0"/>
                  <a:t> docker run --</a:t>
                </a:r>
                <a:r>
                  <a:rPr lang="en-US" altLang="ko-KR" dirty="0" err="1"/>
                  <a:t>gpus</a:t>
                </a:r>
                <a:r>
                  <a:rPr lang="en-US" altLang="ko-KR" dirty="0"/>
                  <a:t> all -it \</a:t>
                </a:r>
              </a:p>
              <a:p>
                <a:r>
                  <a:rPr lang="en-US" altLang="ko-KR" dirty="0"/>
                  <a:t>  -v $(</a:t>
                </a:r>
                <a:r>
                  <a:rPr lang="en-US" altLang="ko-KR" dirty="0" err="1">
                    <a:solidFill>
                      <a:schemeClr val="accent2"/>
                    </a:solidFill>
                  </a:rPr>
                  <a:t>pwd</a:t>
                </a:r>
                <a:r>
                  <a:rPr lang="en-US" altLang="ko-KR" dirty="0"/>
                  <a:t>)/models:/workspace/</a:t>
                </a:r>
                <a:r>
                  <a:rPr lang="en-US" altLang="ko-KR" dirty="0" err="1"/>
                  <a:t>src</a:t>
                </a:r>
                <a:r>
                  <a:rPr lang="en-US" altLang="ko-KR" dirty="0"/>
                  <a:t>/models \</a:t>
                </a:r>
              </a:p>
              <a:p>
                <a:r>
                  <a:rPr lang="en-US" altLang="ko-KR" dirty="0"/>
                  <a:t>  -v $(</a:t>
                </a:r>
                <a:r>
                  <a:rPr lang="en-US" altLang="ko-KR" dirty="0" err="1">
                    <a:solidFill>
                      <a:schemeClr val="accent2"/>
                    </a:solidFill>
                  </a:rPr>
                  <a:t>pwd</a:t>
                </a:r>
                <a:r>
                  <a:rPr lang="en-US" altLang="ko-KR" dirty="0"/>
                  <a:t>)/</a:t>
                </a:r>
                <a:r>
                  <a:rPr lang="en-US" altLang="ko-KR" dirty="0" err="1"/>
                  <a:t>src</a:t>
                </a:r>
                <a:r>
                  <a:rPr lang="en-US" altLang="ko-KR" dirty="0"/>
                  <a:t>/</a:t>
                </a:r>
                <a:r>
                  <a:rPr lang="en-US" altLang="ko-KR" dirty="0" err="1"/>
                  <a:t>wafer_data</a:t>
                </a:r>
                <a:r>
                  <a:rPr lang="en-US" altLang="ko-KR" dirty="0"/>
                  <a:t>:/workspace/</a:t>
                </a:r>
                <a:r>
                  <a:rPr lang="en-US" altLang="ko-KR" dirty="0" err="1"/>
                  <a:t>src</a:t>
                </a:r>
                <a:r>
                  <a:rPr lang="en-US" altLang="ko-KR" dirty="0"/>
                  <a:t>/</a:t>
                </a:r>
                <a:r>
                  <a:rPr lang="en-US" altLang="ko-KR" dirty="0" err="1"/>
                  <a:t>wafer_data</a:t>
                </a:r>
                <a:r>
                  <a:rPr lang="en-US" altLang="ko-KR" dirty="0"/>
                  <a:t> \</a:t>
                </a:r>
              </a:p>
              <a:p>
                <a:r>
                  <a:rPr lang="en-US" altLang="ko-KR" dirty="0"/>
                  <a:t>  </a:t>
                </a:r>
                <a:r>
                  <a:rPr lang="en-US" altLang="ko-KR" dirty="0" err="1"/>
                  <a:t>autoenc_pytorch</a:t>
                </a:r>
                <a:r>
                  <a:rPr lang="en-US" altLang="ko-KR" dirty="0"/>
                  <a:t> /bin/bash</a:t>
                </a:r>
              </a:p>
            </p:txBody>
          </p:sp>
        </p:grpSp>
        <p:sp>
          <p:nvSpPr>
            <p:cNvPr id="17" name="내용 개체 틀 2">
              <a:extLst>
                <a:ext uri="{FF2B5EF4-FFF2-40B4-BE49-F238E27FC236}">
                  <a16:creationId xmlns:a16="http://schemas.microsoft.com/office/drawing/2014/main" id="{05A9F715-86B8-101E-E0C4-6FF52B7C4D26}"/>
                </a:ext>
              </a:extLst>
            </p:cNvPr>
            <p:cNvSpPr txBox="1">
              <a:spLocks/>
            </p:cNvSpPr>
            <p:nvPr/>
          </p:nvSpPr>
          <p:spPr>
            <a:xfrm>
              <a:off x="6501246" y="3879433"/>
              <a:ext cx="4336967" cy="43938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300"/>
                </a:spcBef>
                <a:buNone/>
              </a:pPr>
              <a:r>
                <a:rPr lang="en-US" altLang="ko-KR" sz="1800" dirty="0">
                  <a:solidFill>
                    <a:srgbClr val="00B050"/>
                  </a:solidFill>
                </a:rPr>
                <a:t># GPU</a:t>
              </a:r>
              <a:r>
                <a:rPr lang="ko-KR" altLang="en-US" sz="1800" dirty="0">
                  <a:solidFill>
                    <a:srgbClr val="00B050"/>
                  </a:solidFill>
                </a:rPr>
                <a:t> 자원 사용시 </a:t>
              </a:r>
              <a:r>
                <a:rPr lang="en-US" altLang="ko-KR" sz="1800" dirty="0">
                  <a:solidFill>
                    <a:srgbClr val="00B050"/>
                  </a:solidFill>
                </a:rPr>
                <a:t>–</a:t>
              </a:r>
              <a:r>
                <a:rPr lang="en-US" altLang="ko-KR" sz="1800" dirty="0" err="1">
                  <a:solidFill>
                    <a:srgbClr val="00B050"/>
                  </a:solidFill>
                </a:rPr>
                <a:t>gpus</a:t>
              </a:r>
              <a:r>
                <a:rPr lang="en-US" altLang="ko-KR" sz="1800" dirty="0">
                  <a:solidFill>
                    <a:srgbClr val="00B050"/>
                  </a:solidFill>
                </a:rPr>
                <a:t> all </a:t>
              </a:r>
              <a:r>
                <a:rPr lang="ko-KR" altLang="en-US" sz="1800" dirty="0">
                  <a:solidFill>
                    <a:srgbClr val="00B050"/>
                  </a:solidFill>
                </a:rPr>
                <a:t>옵션 필수</a:t>
              </a:r>
              <a:endParaRPr lang="en-US" altLang="ko-KR" sz="1800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0224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FC49D-6721-72EE-D365-1B2E4886F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E5E7E10-0907-D2BC-0D3D-D93C233D6743}"/>
              </a:ext>
            </a:extLst>
          </p:cNvPr>
          <p:cNvSpPr/>
          <p:nvPr/>
        </p:nvSpPr>
        <p:spPr>
          <a:xfrm>
            <a:off x="672936" y="1508166"/>
            <a:ext cx="2260271" cy="26549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46568DA-0958-D63C-6022-388DD2F10851}"/>
              </a:ext>
            </a:extLst>
          </p:cNvPr>
          <p:cNvSpPr/>
          <p:nvPr/>
        </p:nvSpPr>
        <p:spPr>
          <a:xfrm>
            <a:off x="2636318" y="1033153"/>
            <a:ext cx="2458193" cy="34097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7555169-F927-0BFB-507F-54AA74408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주요 스크립트 사용법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60673DA-9334-35AB-7903-9560A77896EB}"/>
              </a:ext>
            </a:extLst>
          </p:cNvPr>
          <p:cNvSpPr txBox="1">
            <a:spLocks/>
          </p:cNvSpPr>
          <p:nvPr/>
        </p:nvSpPr>
        <p:spPr>
          <a:xfrm>
            <a:off x="220683" y="1021278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고장 데이터 판별 </a:t>
            </a:r>
            <a:r>
              <a:rPr lang="en-US" altLang="ko-KR" sz="2000" dirty="0"/>
              <a:t>check_faulty_data.py</a:t>
            </a:r>
            <a:endParaRPr lang="en-US" altLang="ko-KR" sz="2000" b="1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8EB6451-A196-9171-6B9B-55C158327512}"/>
              </a:ext>
            </a:extLst>
          </p:cNvPr>
          <p:cNvGrpSpPr/>
          <p:nvPr/>
        </p:nvGrpSpPr>
        <p:grpSpPr>
          <a:xfrm>
            <a:off x="566551" y="4022258"/>
            <a:ext cx="10335491" cy="1304676"/>
            <a:chOff x="773380" y="2339439"/>
            <a:chExt cx="10335491" cy="1304676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867E0B7C-F5AB-756F-E2C4-C2E2E4653D73}"/>
                </a:ext>
              </a:extLst>
            </p:cNvPr>
            <p:cNvSpPr/>
            <p:nvPr/>
          </p:nvSpPr>
          <p:spPr>
            <a:xfrm>
              <a:off x="773380" y="2339439"/>
              <a:ext cx="10335491" cy="1304676"/>
            </a:xfrm>
            <a:prstGeom prst="roundRect">
              <a:avLst>
                <a:gd name="adj" fmla="val 580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6A56462-27E4-620A-A896-F594870FDDDE}"/>
                </a:ext>
              </a:extLst>
            </p:cNvPr>
            <p:cNvSpPr txBox="1"/>
            <p:nvPr/>
          </p:nvSpPr>
          <p:spPr>
            <a:xfrm>
              <a:off x="867890" y="2391612"/>
              <a:ext cx="7317674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 err="1"/>
                <a:t>sudo</a:t>
              </a:r>
              <a:r>
                <a:rPr lang="en-US" altLang="ko-KR" dirty="0"/>
                <a:t> docker run --</a:t>
              </a:r>
              <a:r>
                <a:rPr lang="en-US" altLang="ko-KR" dirty="0">
                  <a:solidFill>
                    <a:schemeClr val="accent2"/>
                  </a:solidFill>
                </a:rPr>
                <a:t>rm</a:t>
              </a:r>
              <a:r>
                <a:rPr lang="en-US" altLang="ko-KR" dirty="0"/>
                <a:t> -it \</a:t>
              </a:r>
            </a:p>
            <a:p>
              <a:r>
                <a:rPr lang="en-US" altLang="ko-KR" dirty="0"/>
                <a:t>  -v ~/</a:t>
              </a:r>
              <a:r>
                <a:rPr lang="en-US" altLang="ko-KR" dirty="0" err="1"/>
                <a:t>docker_autoenc</a:t>
              </a:r>
              <a:r>
                <a:rPr lang="en-US" altLang="ko-KR" dirty="0"/>
                <a:t>/models:/workspace/</a:t>
              </a:r>
              <a:r>
                <a:rPr lang="en-US" altLang="ko-KR" dirty="0" err="1"/>
                <a:t>src</a:t>
              </a:r>
              <a:r>
                <a:rPr lang="en-US" altLang="ko-KR" dirty="0"/>
                <a:t>/models \</a:t>
              </a:r>
            </a:p>
            <a:p>
              <a:r>
                <a:rPr lang="en-US" altLang="ko-KR" dirty="0"/>
                <a:t>  </a:t>
              </a:r>
              <a:r>
                <a:rPr lang="en-US" altLang="ko-KR" dirty="0" err="1"/>
                <a:t>autoenc</a:t>
              </a:r>
              <a:r>
                <a:rPr lang="en-US" altLang="ko-KR" dirty="0"/>
                <a:t>-docker \</a:t>
              </a:r>
            </a:p>
            <a:p>
              <a:r>
                <a:rPr lang="en-US" altLang="ko-KR" dirty="0"/>
                <a:t>  python /workspace/src/check_faulty_data.py</a:t>
              </a:r>
            </a:p>
          </p:txBody>
        </p:sp>
      </p:grp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253067DA-2503-8636-2916-0FB1FF2D74D1}"/>
              </a:ext>
            </a:extLst>
          </p:cNvPr>
          <p:cNvSpPr txBox="1">
            <a:spLocks/>
          </p:cNvSpPr>
          <p:nvPr/>
        </p:nvSpPr>
        <p:spPr>
          <a:xfrm>
            <a:off x="447303" y="1460665"/>
            <a:ext cx="10294917" cy="813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/>
              <a:t>check_faulty_data.py </a:t>
            </a:r>
            <a:r>
              <a:rPr lang="ko-KR" altLang="en-US" sz="1800" dirty="0"/>
              <a:t>는 </a:t>
            </a:r>
            <a:r>
              <a:rPr lang="en-US" altLang="ko-KR" sz="1800" b="1" dirty="0"/>
              <a:t>Autoencoder </a:t>
            </a:r>
            <a:r>
              <a:rPr lang="ko-KR" altLang="en-US" sz="1800" b="1" dirty="0"/>
              <a:t>모델을 이용해 </a:t>
            </a:r>
            <a:r>
              <a:rPr lang="en-US" altLang="ko-KR" sz="1800" b="1" dirty="0" err="1"/>
              <a:t>wafer_data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내 진동 데이터를 판별</a:t>
            </a:r>
            <a:r>
              <a:rPr lang="ko-KR" altLang="en-US" sz="1800" dirty="0"/>
              <a:t>하고</a:t>
            </a:r>
            <a:r>
              <a:rPr lang="en-US" altLang="ko-KR" sz="1800" dirty="0"/>
              <a:t>,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ko-KR" sz="1800" dirty="0"/>
              <a:t>   </a:t>
            </a:r>
            <a:r>
              <a:rPr lang="ko-KR" altLang="en-US" sz="1800" b="1" dirty="0"/>
              <a:t>재구성 오류를 기준으로 고장 여부를 판단</a:t>
            </a:r>
            <a:r>
              <a:rPr lang="ko-KR" altLang="en-US" sz="1800" dirty="0"/>
              <a:t>하는 스크립트</a:t>
            </a:r>
            <a:endParaRPr lang="en-US" altLang="ko-KR" sz="180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41FCD524-04D5-ED63-E0A7-E64C320BB337}"/>
              </a:ext>
            </a:extLst>
          </p:cNvPr>
          <p:cNvSpPr txBox="1">
            <a:spLocks/>
          </p:cNvSpPr>
          <p:nvPr/>
        </p:nvSpPr>
        <p:spPr>
          <a:xfrm>
            <a:off x="220683" y="2713510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실행방법</a:t>
            </a:r>
            <a:endParaRPr lang="en-US" altLang="ko-KR" sz="2000" b="1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18EC2282-405D-3ACD-C0B5-5D10B8B3DA62}"/>
              </a:ext>
            </a:extLst>
          </p:cNvPr>
          <p:cNvSpPr txBox="1">
            <a:spLocks/>
          </p:cNvSpPr>
          <p:nvPr/>
        </p:nvSpPr>
        <p:spPr>
          <a:xfrm>
            <a:off x="478478" y="3164772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✅</a:t>
            </a:r>
            <a:r>
              <a:rPr lang="ko-KR" altLang="en-US" sz="2000" b="1" dirty="0"/>
              <a:t> 기본 사용법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모델만 마운트</a:t>
            </a:r>
            <a:r>
              <a:rPr lang="en-US" altLang="ko-KR" sz="2000" b="1" dirty="0"/>
              <a:t>)</a:t>
            </a: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FDC37E36-85B2-04CE-3C93-EE6970809F6D}"/>
              </a:ext>
            </a:extLst>
          </p:cNvPr>
          <p:cNvSpPr txBox="1">
            <a:spLocks/>
          </p:cNvSpPr>
          <p:nvPr/>
        </p:nvSpPr>
        <p:spPr>
          <a:xfrm>
            <a:off x="566551" y="3615160"/>
            <a:ext cx="10294917" cy="813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 err="1"/>
              <a:t>Wafer_data</a:t>
            </a:r>
            <a:r>
              <a:rPr lang="ko-KR" altLang="en-US" sz="1800" dirty="0"/>
              <a:t>는 </a:t>
            </a:r>
            <a:r>
              <a:rPr lang="en-US" altLang="ko-KR" sz="1800" dirty="0"/>
              <a:t>Docker </a:t>
            </a:r>
            <a:r>
              <a:rPr lang="ko-KR" altLang="en-US" sz="1800" dirty="0"/>
              <a:t>이미지에 이미 포함되어 있다고 가정할 때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163300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41B1B-57AD-6993-F8EC-A46FBF7E5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A102BAD-9FA9-1080-8149-DEA35A2117DA}"/>
              </a:ext>
            </a:extLst>
          </p:cNvPr>
          <p:cNvSpPr/>
          <p:nvPr/>
        </p:nvSpPr>
        <p:spPr>
          <a:xfrm>
            <a:off x="672936" y="1508166"/>
            <a:ext cx="2260271" cy="26549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ED3CA2B-CF65-8496-23FA-E308F5B8B871}"/>
              </a:ext>
            </a:extLst>
          </p:cNvPr>
          <p:cNvSpPr/>
          <p:nvPr/>
        </p:nvSpPr>
        <p:spPr>
          <a:xfrm>
            <a:off x="2636318" y="1033153"/>
            <a:ext cx="2458193" cy="34097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6946043-BA7C-1FE1-311F-160F0F5AC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주요 스크립트 사용법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4663104A-B347-48DE-64C5-010DA13A0C97}"/>
              </a:ext>
            </a:extLst>
          </p:cNvPr>
          <p:cNvSpPr txBox="1">
            <a:spLocks/>
          </p:cNvSpPr>
          <p:nvPr/>
        </p:nvSpPr>
        <p:spPr>
          <a:xfrm>
            <a:off x="220683" y="1021278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고장 데이터 판별 </a:t>
            </a:r>
            <a:r>
              <a:rPr lang="en-US" altLang="ko-KR" sz="2000" dirty="0"/>
              <a:t>check_faulty_data.py</a:t>
            </a:r>
            <a:endParaRPr lang="en-US" altLang="ko-KR" sz="2000" b="1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C65B64A-FDFB-CC15-B8D8-7676C2E798C0}"/>
              </a:ext>
            </a:extLst>
          </p:cNvPr>
          <p:cNvGrpSpPr/>
          <p:nvPr/>
        </p:nvGrpSpPr>
        <p:grpSpPr>
          <a:xfrm>
            <a:off x="566551" y="4022257"/>
            <a:ext cx="10335491" cy="1529502"/>
            <a:chOff x="773380" y="2339438"/>
            <a:chExt cx="10335491" cy="1529502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2669197F-257F-E822-436E-40C221321DA6}"/>
                </a:ext>
              </a:extLst>
            </p:cNvPr>
            <p:cNvSpPr/>
            <p:nvPr/>
          </p:nvSpPr>
          <p:spPr>
            <a:xfrm>
              <a:off x="773380" y="2339438"/>
              <a:ext cx="10335491" cy="1529501"/>
            </a:xfrm>
            <a:prstGeom prst="roundRect">
              <a:avLst>
                <a:gd name="adj" fmla="val 580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5AF69E-7DC8-2267-4679-FC5C52A5A9EB}"/>
                </a:ext>
              </a:extLst>
            </p:cNvPr>
            <p:cNvSpPr txBox="1"/>
            <p:nvPr/>
          </p:nvSpPr>
          <p:spPr>
            <a:xfrm>
              <a:off x="867889" y="2391612"/>
              <a:ext cx="9480467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 err="1"/>
                <a:t>sudo</a:t>
              </a:r>
              <a:r>
                <a:rPr lang="en-US" altLang="ko-KR" dirty="0"/>
                <a:t> docker run --</a:t>
              </a:r>
              <a:r>
                <a:rPr lang="en-US" altLang="ko-KR" dirty="0">
                  <a:solidFill>
                    <a:schemeClr val="accent2"/>
                  </a:solidFill>
                </a:rPr>
                <a:t>rm</a:t>
              </a:r>
              <a:r>
                <a:rPr lang="en-US" altLang="ko-KR" dirty="0"/>
                <a:t> -it \</a:t>
              </a:r>
            </a:p>
            <a:p>
              <a:r>
                <a:rPr lang="en-US" altLang="ko-KR" dirty="0"/>
                <a:t>  -v ~/</a:t>
              </a:r>
              <a:r>
                <a:rPr lang="en-US" altLang="ko-KR" dirty="0" err="1"/>
                <a:t>docker_autoenc</a:t>
              </a:r>
              <a:r>
                <a:rPr lang="en-US" altLang="ko-KR" dirty="0"/>
                <a:t>/</a:t>
              </a:r>
              <a:r>
                <a:rPr lang="en-US" altLang="ko-KR" dirty="0" err="1"/>
                <a:t>src</a:t>
              </a:r>
              <a:r>
                <a:rPr lang="en-US" altLang="ko-KR" dirty="0"/>
                <a:t>/</a:t>
              </a:r>
              <a:r>
                <a:rPr lang="en-US" altLang="ko-KR" dirty="0" err="1"/>
                <a:t>wafer_data</a:t>
              </a:r>
              <a:r>
                <a:rPr lang="en-US" altLang="ko-KR" dirty="0"/>
                <a:t>:/workspace/</a:t>
              </a:r>
              <a:r>
                <a:rPr lang="en-US" altLang="ko-KR" dirty="0" err="1"/>
                <a:t>src</a:t>
              </a:r>
              <a:r>
                <a:rPr lang="en-US" altLang="ko-KR" dirty="0"/>
                <a:t>/</a:t>
              </a:r>
              <a:r>
                <a:rPr lang="en-US" altLang="ko-KR" dirty="0" err="1"/>
                <a:t>wafer_data</a:t>
              </a:r>
              <a:r>
                <a:rPr lang="en-US" altLang="ko-KR" dirty="0"/>
                <a:t> \</a:t>
              </a:r>
            </a:p>
            <a:p>
              <a:r>
                <a:rPr lang="en-US" altLang="ko-KR" dirty="0"/>
                <a:t>  -v ~/</a:t>
              </a:r>
              <a:r>
                <a:rPr lang="en-US" altLang="ko-KR" dirty="0" err="1"/>
                <a:t>docker_autoenc</a:t>
              </a:r>
              <a:r>
                <a:rPr lang="en-US" altLang="ko-KR" dirty="0"/>
                <a:t>/models:/workspace/</a:t>
              </a:r>
              <a:r>
                <a:rPr lang="en-US" altLang="ko-KR" dirty="0" err="1"/>
                <a:t>src</a:t>
              </a:r>
              <a:r>
                <a:rPr lang="en-US" altLang="ko-KR" dirty="0"/>
                <a:t>/models \</a:t>
              </a:r>
            </a:p>
            <a:p>
              <a:r>
                <a:rPr lang="en-US" altLang="ko-KR" dirty="0"/>
                <a:t>  </a:t>
              </a:r>
              <a:r>
                <a:rPr lang="en-US" altLang="ko-KR" dirty="0" err="1"/>
                <a:t>autoenc</a:t>
              </a:r>
              <a:r>
                <a:rPr lang="en-US" altLang="ko-KR" dirty="0"/>
                <a:t>-docker \</a:t>
              </a:r>
            </a:p>
            <a:p>
              <a:r>
                <a:rPr lang="en-US" altLang="ko-KR" dirty="0"/>
                <a:t>  python /workspace/src/check_faulty_data.py</a:t>
              </a:r>
            </a:p>
          </p:txBody>
        </p:sp>
      </p:grp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AFF76800-EBC2-F1A9-0F5C-7F18204FA0CF}"/>
              </a:ext>
            </a:extLst>
          </p:cNvPr>
          <p:cNvSpPr txBox="1">
            <a:spLocks/>
          </p:cNvSpPr>
          <p:nvPr/>
        </p:nvSpPr>
        <p:spPr>
          <a:xfrm>
            <a:off x="447303" y="1460665"/>
            <a:ext cx="10294917" cy="813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/>
              <a:t>check_faulty_data.py </a:t>
            </a:r>
            <a:r>
              <a:rPr lang="ko-KR" altLang="en-US" sz="1800" dirty="0"/>
              <a:t>는 </a:t>
            </a:r>
            <a:r>
              <a:rPr lang="en-US" altLang="ko-KR" sz="1800" b="1" dirty="0"/>
              <a:t>Autoencoder </a:t>
            </a:r>
            <a:r>
              <a:rPr lang="ko-KR" altLang="en-US" sz="1800" b="1" dirty="0"/>
              <a:t>모델을 이용해 </a:t>
            </a:r>
            <a:r>
              <a:rPr lang="en-US" altLang="ko-KR" sz="1800" b="1" dirty="0" err="1"/>
              <a:t>wafer_data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내 진동 데이터를 판별</a:t>
            </a:r>
            <a:r>
              <a:rPr lang="ko-KR" altLang="en-US" sz="1800" dirty="0"/>
              <a:t>하고</a:t>
            </a:r>
            <a:r>
              <a:rPr lang="en-US" altLang="ko-KR" sz="1800" dirty="0"/>
              <a:t>,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ko-KR" sz="1800" dirty="0"/>
              <a:t>   </a:t>
            </a:r>
            <a:r>
              <a:rPr lang="ko-KR" altLang="en-US" sz="1800" b="1" dirty="0"/>
              <a:t>재구성 오류를 기준으로 고장 여부를 판단</a:t>
            </a:r>
            <a:r>
              <a:rPr lang="ko-KR" altLang="en-US" sz="1800" dirty="0"/>
              <a:t>하는 스크립트</a:t>
            </a:r>
            <a:endParaRPr lang="en-US" altLang="ko-KR" sz="180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23A238E-4A61-57E8-1D5F-10DD5A23467B}"/>
              </a:ext>
            </a:extLst>
          </p:cNvPr>
          <p:cNvSpPr txBox="1">
            <a:spLocks/>
          </p:cNvSpPr>
          <p:nvPr/>
        </p:nvSpPr>
        <p:spPr>
          <a:xfrm>
            <a:off x="220683" y="2713510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실행방법</a:t>
            </a:r>
            <a:endParaRPr lang="en-US" altLang="ko-KR" sz="2000" b="1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333F28B-8007-9236-5E50-BD39B3F085B8}"/>
              </a:ext>
            </a:extLst>
          </p:cNvPr>
          <p:cNvSpPr txBox="1">
            <a:spLocks/>
          </p:cNvSpPr>
          <p:nvPr/>
        </p:nvSpPr>
        <p:spPr>
          <a:xfrm>
            <a:off x="478478" y="3164772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✅</a:t>
            </a:r>
            <a:r>
              <a:rPr lang="ko-KR" altLang="en-US" sz="2000" b="1" dirty="0"/>
              <a:t>데이터 추가 후 실행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데이터도 마운트</a:t>
            </a:r>
            <a:r>
              <a:rPr lang="en-US" altLang="ko-KR" sz="2000" b="1" dirty="0"/>
              <a:t>)</a:t>
            </a: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39E9FD7A-1571-AC9A-D6F9-FC5D8E47E2A4}"/>
              </a:ext>
            </a:extLst>
          </p:cNvPr>
          <p:cNvSpPr txBox="1">
            <a:spLocks/>
          </p:cNvSpPr>
          <p:nvPr/>
        </p:nvSpPr>
        <p:spPr>
          <a:xfrm>
            <a:off x="566551" y="3615160"/>
            <a:ext cx="10294917" cy="813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 err="1"/>
              <a:t>wafer_data</a:t>
            </a:r>
            <a:r>
              <a:rPr lang="ko-KR" altLang="en-US" sz="1800" dirty="0"/>
              <a:t>에 새로운 데이터를 추가 했을 때 </a:t>
            </a:r>
            <a:r>
              <a:rPr lang="en-US" altLang="ko-KR" sz="1800" dirty="0"/>
              <a:t>(</a:t>
            </a:r>
            <a:r>
              <a:rPr lang="ko-KR" altLang="en-US" sz="1800" dirty="0"/>
              <a:t>로컬 → 컨테이너로 마운트</a:t>
            </a:r>
            <a:r>
              <a:rPr lang="en-US" altLang="ko-KR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89909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DEFD5-C205-92C2-3876-E461B95C0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448B15D-1CE3-88BD-9758-9CF7DEB7331F}"/>
              </a:ext>
            </a:extLst>
          </p:cNvPr>
          <p:cNvSpPr/>
          <p:nvPr/>
        </p:nvSpPr>
        <p:spPr>
          <a:xfrm>
            <a:off x="6096000" y="5736101"/>
            <a:ext cx="2596737" cy="36497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7E870E6-E4C9-89AA-9E58-57D8EFC2453D}"/>
              </a:ext>
            </a:extLst>
          </p:cNvPr>
          <p:cNvSpPr/>
          <p:nvPr/>
        </p:nvSpPr>
        <p:spPr>
          <a:xfrm>
            <a:off x="4028704" y="3964613"/>
            <a:ext cx="1267692" cy="30441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3F71C36-614A-57F4-C46C-5730BA0AA9FE}"/>
              </a:ext>
            </a:extLst>
          </p:cNvPr>
          <p:cNvSpPr/>
          <p:nvPr/>
        </p:nvSpPr>
        <p:spPr>
          <a:xfrm>
            <a:off x="4028703" y="3429001"/>
            <a:ext cx="2609603" cy="31085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D58A139-175F-B18E-6710-FE189B9426AC}"/>
              </a:ext>
            </a:extLst>
          </p:cNvPr>
          <p:cNvSpPr/>
          <p:nvPr/>
        </p:nvSpPr>
        <p:spPr>
          <a:xfrm>
            <a:off x="672936" y="1508166"/>
            <a:ext cx="2260271" cy="26549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C381E36-F971-C8B1-04A1-84991B04F8CA}"/>
              </a:ext>
            </a:extLst>
          </p:cNvPr>
          <p:cNvSpPr/>
          <p:nvPr/>
        </p:nvSpPr>
        <p:spPr>
          <a:xfrm>
            <a:off x="2636318" y="1033153"/>
            <a:ext cx="2458193" cy="34097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DF410B-5902-5490-8F21-E4A2A85B9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주요 스크립트 사용법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BEB05BF-DB3C-C7D3-5E9A-DF50DB118489}"/>
              </a:ext>
            </a:extLst>
          </p:cNvPr>
          <p:cNvSpPr txBox="1">
            <a:spLocks/>
          </p:cNvSpPr>
          <p:nvPr/>
        </p:nvSpPr>
        <p:spPr>
          <a:xfrm>
            <a:off x="220683" y="1021278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고장 데이터 판별 </a:t>
            </a:r>
            <a:r>
              <a:rPr lang="en-US" altLang="ko-KR" sz="2000" dirty="0"/>
              <a:t>check_faulty_data.py</a:t>
            </a:r>
            <a:endParaRPr lang="en-US" altLang="ko-KR" sz="2000" b="1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C102590-9688-5BD1-8939-48D6EB14CB86}"/>
              </a:ext>
            </a:extLst>
          </p:cNvPr>
          <p:cNvSpPr txBox="1">
            <a:spLocks/>
          </p:cNvSpPr>
          <p:nvPr/>
        </p:nvSpPr>
        <p:spPr>
          <a:xfrm>
            <a:off x="447303" y="1460665"/>
            <a:ext cx="10294917" cy="813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/>
              <a:t>check_faulty_data.py </a:t>
            </a:r>
            <a:r>
              <a:rPr lang="ko-KR" altLang="en-US" sz="1800" dirty="0"/>
              <a:t>는 </a:t>
            </a:r>
            <a:r>
              <a:rPr lang="en-US" altLang="ko-KR" sz="1800" b="1" dirty="0"/>
              <a:t>Autoencoder </a:t>
            </a:r>
            <a:r>
              <a:rPr lang="ko-KR" altLang="en-US" sz="1800" b="1" dirty="0"/>
              <a:t>모델을 이용해 </a:t>
            </a:r>
            <a:r>
              <a:rPr lang="en-US" altLang="ko-KR" sz="1800" b="1" dirty="0" err="1"/>
              <a:t>wafer_data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내 진동 데이터를 판별</a:t>
            </a:r>
            <a:r>
              <a:rPr lang="ko-KR" altLang="en-US" sz="1800" dirty="0"/>
              <a:t>하고</a:t>
            </a:r>
            <a:r>
              <a:rPr lang="en-US" altLang="ko-KR" sz="1800" dirty="0"/>
              <a:t>,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ko-KR" sz="1800" dirty="0"/>
              <a:t>   </a:t>
            </a:r>
            <a:r>
              <a:rPr lang="ko-KR" altLang="en-US" sz="1800" b="1" dirty="0"/>
              <a:t>재구성 오류를 기준으로 고장 여부를 판단</a:t>
            </a:r>
            <a:r>
              <a:rPr lang="ko-KR" altLang="en-US" sz="1800" dirty="0"/>
              <a:t>하는 스크립트</a:t>
            </a:r>
            <a:endParaRPr lang="en-US" altLang="ko-KR" sz="180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4F266501-ED9E-4A19-2D3F-37C98C293833}"/>
              </a:ext>
            </a:extLst>
          </p:cNvPr>
          <p:cNvSpPr txBox="1">
            <a:spLocks/>
          </p:cNvSpPr>
          <p:nvPr/>
        </p:nvSpPr>
        <p:spPr>
          <a:xfrm>
            <a:off x="220683" y="2360658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코드 동작 방식</a:t>
            </a:r>
            <a:endParaRPr lang="en-US" altLang="ko-KR" sz="2000" b="1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091C60E-CDEC-69D9-6005-EADC2571A000}"/>
              </a:ext>
            </a:extLst>
          </p:cNvPr>
          <p:cNvSpPr txBox="1">
            <a:spLocks/>
          </p:cNvSpPr>
          <p:nvPr/>
        </p:nvSpPr>
        <p:spPr>
          <a:xfrm>
            <a:off x="589807" y="2886580"/>
            <a:ext cx="185749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b="1" dirty="0"/>
              <a:t>단계</a:t>
            </a:r>
            <a:endParaRPr lang="en-US" altLang="ko-KR" sz="1800" b="1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BEA9EB21-0572-E264-A3A5-72479DBBF2A0}"/>
              </a:ext>
            </a:extLst>
          </p:cNvPr>
          <p:cNvSpPr txBox="1">
            <a:spLocks/>
          </p:cNvSpPr>
          <p:nvPr/>
        </p:nvSpPr>
        <p:spPr>
          <a:xfrm>
            <a:off x="3984170" y="2886580"/>
            <a:ext cx="185749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b="1"/>
              <a:t>설명</a:t>
            </a:r>
            <a:endParaRPr lang="en-US" altLang="ko-KR" sz="1800" b="1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0DE1006-1F8E-4F13-54B2-C0C259788532}"/>
              </a:ext>
            </a:extLst>
          </p:cNvPr>
          <p:cNvCxnSpPr>
            <a:cxnSpLocks/>
          </p:cNvCxnSpPr>
          <p:nvPr/>
        </p:nvCxnSpPr>
        <p:spPr>
          <a:xfrm>
            <a:off x="672936" y="3313216"/>
            <a:ext cx="1060862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3254A0D0-74C8-D68B-9928-CDD66ED433E9}"/>
              </a:ext>
            </a:extLst>
          </p:cNvPr>
          <p:cNvSpPr txBox="1">
            <a:spLocks/>
          </p:cNvSpPr>
          <p:nvPr/>
        </p:nvSpPr>
        <p:spPr>
          <a:xfrm>
            <a:off x="589807" y="3444893"/>
            <a:ext cx="185749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1. </a:t>
            </a:r>
            <a:r>
              <a:rPr lang="ko-KR" altLang="en-US" sz="1800" b="1" dirty="0"/>
              <a:t>모델 로드</a:t>
            </a:r>
            <a:endParaRPr lang="en-US" altLang="ko-KR" sz="1800" b="1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6D5149B9-C20C-1F12-4CC4-83843E955C57}"/>
              </a:ext>
            </a:extLst>
          </p:cNvPr>
          <p:cNvSpPr txBox="1">
            <a:spLocks/>
          </p:cNvSpPr>
          <p:nvPr/>
        </p:nvSpPr>
        <p:spPr>
          <a:xfrm>
            <a:off x="3984169" y="3405250"/>
            <a:ext cx="7713026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dirty="0"/>
              <a:t>models/</a:t>
            </a:r>
            <a:r>
              <a:rPr lang="en-US" altLang="ko-KR" sz="1800" dirty="0" err="1"/>
              <a:t>autoencoder.pth</a:t>
            </a:r>
            <a:r>
              <a:rPr lang="en-US" altLang="ko-KR" sz="1800" dirty="0"/>
              <a:t> </a:t>
            </a:r>
            <a:r>
              <a:rPr lang="ko-KR" altLang="en-US" sz="1800" dirty="0"/>
              <a:t>파일을 불러와 </a:t>
            </a:r>
            <a:r>
              <a:rPr lang="en-US" altLang="ko-KR" sz="1800" dirty="0"/>
              <a:t>Autoencoder </a:t>
            </a:r>
            <a:r>
              <a:rPr lang="ko-KR" altLang="en-US" sz="1800" dirty="0"/>
              <a:t>네트워크에 로드 </a:t>
            </a:r>
            <a:endParaRPr lang="en-US" altLang="ko-KR" sz="1800" dirty="0"/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5437DF60-E833-4C4B-AEAD-917A67E444BA}"/>
              </a:ext>
            </a:extLst>
          </p:cNvPr>
          <p:cNvSpPr txBox="1">
            <a:spLocks/>
          </p:cNvSpPr>
          <p:nvPr/>
        </p:nvSpPr>
        <p:spPr>
          <a:xfrm>
            <a:off x="589806" y="3989671"/>
            <a:ext cx="185749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2. </a:t>
            </a:r>
            <a:r>
              <a:rPr lang="ko-KR" altLang="en-US" sz="1800" b="1" dirty="0"/>
              <a:t>데이터 로딩</a:t>
            </a:r>
            <a:endParaRPr lang="en-US" altLang="ko-KR" sz="1800" b="1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5CB4BA7-6C52-BA1C-21EC-C49BF24F4FC5}"/>
              </a:ext>
            </a:extLst>
          </p:cNvPr>
          <p:cNvCxnSpPr>
            <a:cxnSpLocks/>
          </p:cNvCxnSpPr>
          <p:nvPr/>
        </p:nvCxnSpPr>
        <p:spPr>
          <a:xfrm>
            <a:off x="672936" y="3868942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CA2EF825-7FC9-6439-872B-AA7ACC74921A}"/>
              </a:ext>
            </a:extLst>
          </p:cNvPr>
          <p:cNvSpPr txBox="1">
            <a:spLocks/>
          </p:cNvSpPr>
          <p:nvPr/>
        </p:nvSpPr>
        <p:spPr>
          <a:xfrm>
            <a:off x="3984169" y="3934428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dirty="0" err="1"/>
              <a:t>wafer_data</a:t>
            </a:r>
            <a:r>
              <a:rPr lang="en-US" altLang="ko-KR" sz="1800" dirty="0"/>
              <a:t>/</a:t>
            </a:r>
            <a:r>
              <a:rPr lang="ko-KR" altLang="en-US" sz="1800" dirty="0"/>
              <a:t> 디렉토리 내 지정된 파일 리스트를 순차적으로 로딩</a:t>
            </a:r>
            <a:endParaRPr lang="en-US" altLang="ko-KR" sz="1800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BD6B3FD-8949-9FA2-8DAE-39A4EB478650}"/>
              </a:ext>
            </a:extLst>
          </p:cNvPr>
          <p:cNvCxnSpPr>
            <a:cxnSpLocks/>
          </p:cNvCxnSpPr>
          <p:nvPr/>
        </p:nvCxnSpPr>
        <p:spPr>
          <a:xfrm>
            <a:off x="672936" y="4413078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E1900986-960F-9E67-AFBF-3CA274EDA4F8}"/>
              </a:ext>
            </a:extLst>
          </p:cNvPr>
          <p:cNvSpPr txBox="1">
            <a:spLocks/>
          </p:cNvSpPr>
          <p:nvPr/>
        </p:nvSpPr>
        <p:spPr>
          <a:xfrm>
            <a:off x="589806" y="4516149"/>
            <a:ext cx="185749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3. </a:t>
            </a:r>
            <a:r>
              <a:rPr lang="ko-KR" altLang="en-US" sz="1800" b="1" dirty="0" err="1"/>
              <a:t>전처리</a:t>
            </a:r>
            <a:endParaRPr lang="en-US" altLang="ko-KR" sz="1800" b="1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B363E801-FD52-08EF-EF91-B2C9C29973AA}"/>
              </a:ext>
            </a:extLst>
          </p:cNvPr>
          <p:cNvSpPr txBox="1">
            <a:spLocks/>
          </p:cNvSpPr>
          <p:nvPr/>
        </p:nvSpPr>
        <p:spPr>
          <a:xfrm>
            <a:off x="3984169" y="4549813"/>
            <a:ext cx="7618025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dirty="0"/>
              <a:t>각 파일에서 </a:t>
            </a:r>
            <a:r>
              <a:rPr lang="en-US" altLang="ko-KR" sz="1800" dirty="0"/>
              <a:t>Roll, Pitch, Yaw, </a:t>
            </a:r>
            <a:r>
              <a:rPr lang="en-US" altLang="ko-KR" sz="1800" dirty="0" err="1"/>
              <a:t>AccX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AccY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AccZ</a:t>
            </a:r>
            <a:r>
              <a:rPr lang="en-US" altLang="ko-KR" sz="1800" dirty="0"/>
              <a:t> </a:t>
            </a:r>
            <a:r>
              <a:rPr lang="ko-KR" altLang="en-US" sz="1800" dirty="0"/>
              <a:t>데이터를 추출 및 </a:t>
            </a:r>
            <a:r>
              <a:rPr lang="ko-KR" altLang="en-US" sz="1800" dirty="0" err="1"/>
              <a:t>전처리</a:t>
            </a:r>
            <a:endParaRPr lang="en-US" altLang="ko-KR" sz="1800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7E5F3FD-93BA-7234-E272-5A874B4C8C4D}"/>
              </a:ext>
            </a:extLst>
          </p:cNvPr>
          <p:cNvCxnSpPr>
            <a:cxnSpLocks/>
          </p:cNvCxnSpPr>
          <p:nvPr/>
        </p:nvCxnSpPr>
        <p:spPr>
          <a:xfrm>
            <a:off x="672936" y="4990710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D76066E3-45E0-5A8F-3D58-26B893DA9844}"/>
              </a:ext>
            </a:extLst>
          </p:cNvPr>
          <p:cNvSpPr txBox="1">
            <a:spLocks/>
          </p:cNvSpPr>
          <p:nvPr/>
        </p:nvSpPr>
        <p:spPr>
          <a:xfrm>
            <a:off x="589806" y="5126125"/>
            <a:ext cx="2462152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4. </a:t>
            </a:r>
            <a:r>
              <a:rPr lang="ko-KR" altLang="en-US" sz="1800" b="1" dirty="0"/>
              <a:t>재구성 오류 계산</a:t>
            </a:r>
            <a:endParaRPr lang="en-US" altLang="ko-KR" sz="1800" b="1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E9D2AF25-0532-8F09-6ED4-97BB3E18702B}"/>
              </a:ext>
            </a:extLst>
          </p:cNvPr>
          <p:cNvSpPr txBox="1">
            <a:spLocks/>
          </p:cNvSpPr>
          <p:nvPr/>
        </p:nvSpPr>
        <p:spPr>
          <a:xfrm>
            <a:off x="3984169" y="5076226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dirty="0"/>
              <a:t>Autoencoder</a:t>
            </a:r>
            <a:r>
              <a:rPr lang="ko-KR" altLang="en-US" sz="1800" dirty="0"/>
              <a:t>로 재구성 후</a:t>
            </a:r>
            <a:r>
              <a:rPr lang="en-US" altLang="ko-KR" sz="1800" dirty="0"/>
              <a:t>, </a:t>
            </a:r>
            <a:r>
              <a:rPr lang="ko-KR" altLang="en-US" sz="1800" dirty="0"/>
              <a:t>원본과의 </a:t>
            </a:r>
            <a:r>
              <a:rPr lang="en-US" altLang="ko-KR" sz="1800" dirty="0"/>
              <a:t>MSE(Mean Squared Error) </a:t>
            </a:r>
            <a:r>
              <a:rPr lang="ko-KR" altLang="en-US" sz="1800" dirty="0"/>
              <a:t>기반 오류 계산</a:t>
            </a:r>
            <a:endParaRPr lang="en-US" altLang="ko-KR" sz="1800" dirty="0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0872692B-3477-D846-CD06-83C4187A6067}"/>
              </a:ext>
            </a:extLst>
          </p:cNvPr>
          <p:cNvCxnSpPr>
            <a:cxnSpLocks/>
          </p:cNvCxnSpPr>
          <p:nvPr/>
        </p:nvCxnSpPr>
        <p:spPr>
          <a:xfrm>
            <a:off x="672936" y="5668545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B4DD4517-A014-E410-34A2-EC37732E21F5}"/>
              </a:ext>
            </a:extLst>
          </p:cNvPr>
          <p:cNvSpPr txBox="1">
            <a:spLocks/>
          </p:cNvSpPr>
          <p:nvPr/>
        </p:nvSpPr>
        <p:spPr>
          <a:xfrm>
            <a:off x="589806" y="5747976"/>
            <a:ext cx="2462152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5. </a:t>
            </a:r>
            <a:r>
              <a:rPr lang="ko-KR" altLang="en-US" sz="1800" b="1" dirty="0"/>
              <a:t>고장 여부 판별</a:t>
            </a:r>
            <a:endParaRPr lang="en-US" altLang="ko-KR" sz="1800" b="1" dirty="0"/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FE271FC5-F5C5-763B-1D6D-1477B8C1B53B}"/>
              </a:ext>
            </a:extLst>
          </p:cNvPr>
          <p:cNvSpPr txBox="1">
            <a:spLocks/>
          </p:cNvSpPr>
          <p:nvPr/>
        </p:nvSpPr>
        <p:spPr>
          <a:xfrm>
            <a:off x="3996044" y="5772045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dirty="0"/>
              <a:t>평균 재구성 오류가 </a:t>
            </a:r>
            <a:r>
              <a:rPr lang="en-US" altLang="ko-KR" sz="1800" dirty="0"/>
              <a:t>THRESHOLD (56250000) </a:t>
            </a:r>
            <a:r>
              <a:rPr lang="ko-KR" altLang="en-US" sz="1800" dirty="0"/>
              <a:t>이상이면</a:t>
            </a:r>
            <a:r>
              <a:rPr lang="en-US" altLang="ko-KR" sz="1800" dirty="0"/>
              <a:t> </a:t>
            </a:r>
            <a:r>
              <a:rPr lang="ko-KR" altLang="en-US" sz="1800" dirty="0"/>
              <a:t>고장으로 판단</a:t>
            </a:r>
            <a:endParaRPr lang="en-US" altLang="ko-KR" sz="1800" dirty="0"/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1A33B268-8101-1473-F4B2-FBDBA91B41CE}"/>
              </a:ext>
            </a:extLst>
          </p:cNvPr>
          <p:cNvSpPr txBox="1">
            <a:spLocks/>
          </p:cNvSpPr>
          <p:nvPr/>
        </p:nvSpPr>
        <p:spPr>
          <a:xfrm>
            <a:off x="447303" y="6467864"/>
            <a:ext cx="11333020" cy="397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altLang="ko-KR" sz="1800" dirty="0"/>
              <a:t>#</a:t>
            </a:r>
            <a:r>
              <a:rPr lang="ko-KR" altLang="en-US" sz="1800" dirty="0"/>
              <a:t>로봇 자세</a:t>
            </a:r>
            <a:r>
              <a:rPr lang="en-US" altLang="ko-KR" sz="1800" dirty="0"/>
              <a:t>, </a:t>
            </a:r>
            <a:r>
              <a:rPr lang="ko-KR" altLang="en-US" sz="1800" dirty="0"/>
              <a:t>모션</a:t>
            </a:r>
            <a:r>
              <a:rPr lang="en-US" altLang="ko-KR" sz="1800" dirty="0"/>
              <a:t> </a:t>
            </a:r>
            <a:r>
              <a:rPr lang="ko-KR" altLang="en-US" sz="1800" dirty="0"/>
              <a:t>등이 새로워질 경우</a:t>
            </a:r>
            <a:r>
              <a:rPr lang="en-US" altLang="ko-KR" sz="1800" dirty="0"/>
              <a:t>, </a:t>
            </a:r>
            <a:r>
              <a:rPr lang="ko-KR" altLang="en-US" sz="1800" dirty="0"/>
              <a:t>고장 진단 판단 성능 향상을 위해 재구성 오류 </a:t>
            </a:r>
            <a:r>
              <a:rPr lang="en-US" altLang="ko-KR" sz="1800" dirty="0"/>
              <a:t>Threshold </a:t>
            </a:r>
            <a:r>
              <a:rPr lang="ko-KR" altLang="en-US" sz="1800" dirty="0"/>
              <a:t>값 튜닝 필요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012222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48FFC-2252-4D93-2D23-3B3BB1D10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7182944-5E2D-46CB-B6A4-3EC792230F3C}"/>
              </a:ext>
            </a:extLst>
          </p:cNvPr>
          <p:cNvSpPr/>
          <p:nvPr/>
        </p:nvSpPr>
        <p:spPr>
          <a:xfrm>
            <a:off x="672936" y="1508166"/>
            <a:ext cx="2260271" cy="26549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5DFCE6D-F0FB-7142-CF98-CC013AA7AD9E}"/>
              </a:ext>
            </a:extLst>
          </p:cNvPr>
          <p:cNvSpPr/>
          <p:nvPr/>
        </p:nvSpPr>
        <p:spPr>
          <a:xfrm>
            <a:off x="2636318" y="1033153"/>
            <a:ext cx="2458193" cy="34097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00547C-7032-68CA-87B5-6662CB22D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주요 스크립트 사용법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2DD04BF-8F3E-58E0-EDC8-58B91201A051}"/>
              </a:ext>
            </a:extLst>
          </p:cNvPr>
          <p:cNvSpPr txBox="1">
            <a:spLocks/>
          </p:cNvSpPr>
          <p:nvPr/>
        </p:nvSpPr>
        <p:spPr>
          <a:xfrm>
            <a:off x="220683" y="1021278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고장 데이터 판별 </a:t>
            </a:r>
            <a:r>
              <a:rPr lang="en-US" altLang="ko-KR" sz="2000" dirty="0"/>
              <a:t>check_faulty_data.py</a:t>
            </a:r>
            <a:endParaRPr lang="en-US" altLang="ko-KR" sz="2000" b="1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153A41A-5071-B0D6-0354-7551F2FC6A28}"/>
              </a:ext>
            </a:extLst>
          </p:cNvPr>
          <p:cNvGrpSpPr/>
          <p:nvPr/>
        </p:nvGrpSpPr>
        <p:grpSpPr>
          <a:xfrm>
            <a:off x="554676" y="3152897"/>
            <a:ext cx="10335491" cy="2059749"/>
            <a:chOff x="773380" y="2339438"/>
            <a:chExt cx="10335491" cy="2059749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82BCD445-4388-0DAB-7CC7-634A4BADDF9B}"/>
                </a:ext>
              </a:extLst>
            </p:cNvPr>
            <p:cNvSpPr/>
            <p:nvPr/>
          </p:nvSpPr>
          <p:spPr>
            <a:xfrm>
              <a:off x="773380" y="2339438"/>
              <a:ext cx="10335491" cy="2031325"/>
            </a:xfrm>
            <a:prstGeom prst="roundRect">
              <a:avLst>
                <a:gd name="adj" fmla="val 580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115B0D4-7B27-F31E-786D-FA317A97B8BE}"/>
                </a:ext>
              </a:extLst>
            </p:cNvPr>
            <p:cNvSpPr txBox="1"/>
            <p:nvPr/>
          </p:nvSpPr>
          <p:spPr>
            <a:xfrm>
              <a:off x="867889" y="2367862"/>
              <a:ext cx="8589817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dirty="0"/>
                <a:t>파일</a:t>
              </a:r>
              <a:r>
                <a:rPr lang="en-US" altLang="ko-KR" dirty="0"/>
                <a:t>: 260-1.txt</a:t>
              </a:r>
            </a:p>
            <a:p>
              <a:r>
                <a:rPr lang="en-US" altLang="ko-KR" dirty="0"/>
                <a:t> - </a:t>
              </a:r>
              <a:r>
                <a:rPr lang="ko-KR" altLang="en-US" dirty="0"/>
                <a:t>평균 재구성 오류</a:t>
              </a:r>
              <a:r>
                <a:rPr lang="en-US" altLang="ko-KR" dirty="0"/>
                <a:t>: 78912345.123456</a:t>
              </a:r>
            </a:p>
            <a:p>
              <a:r>
                <a:rPr lang="en-US" altLang="ko-KR" dirty="0"/>
                <a:t>⚠️ </a:t>
              </a:r>
              <a:r>
                <a:rPr lang="ko-KR" altLang="en-US" dirty="0"/>
                <a:t>진단결과</a:t>
              </a:r>
              <a:r>
                <a:rPr lang="en-US" altLang="ko-KR" dirty="0"/>
                <a:t>: </a:t>
              </a:r>
              <a:r>
                <a:rPr lang="ko-KR" altLang="en-US" dirty="0"/>
                <a:t>고장 데이터입니다</a:t>
              </a:r>
              <a:r>
                <a:rPr lang="en-US" altLang="ko-KR" dirty="0"/>
                <a:t>! z</a:t>
              </a:r>
              <a:r>
                <a:rPr lang="ko-KR" altLang="en-US" dirty="0"/>
                <a:t>축 </a:t>
              </a:r>
              <a:r>
                <a:rPr lang="ko-KR" altLang="en-US" dirty="0" err="1"/>
                <a:t>풀리벨트</a:t>
              </a:r>
              <a:r>
                <a:rPr lang="ko-KR" altLang="en-US" dirty="0"/>
                <a:t> 장력을 확인하십시오</a:t>
              </a:r>
              <a:r>
                <a:rPr lang="en-US" altLang="ko-KR" dirty="0"/>
                <a:t>.</a:t>
              </a:r>
            </a:p>
            <a:p>
              <a:endParaRPr lang="en-US" altLang="ko-KR" dirty="0"/>
            </a:p>
            <a:p>
              <a:r>
                <a:rPr lang="ko-KR" altLang="en-US" dirty="0"/>
                <a:t>파일</a:t>
              </a:r>
              <a:r>
                <a:rPr lang="en-US" altLang="ko-KR" dirty="0"/>
                <a:t>: 260-2.txt</a:t>
              </a:r>
            </a:p>
            <a:p>
              <a:r>
                <a:rPr lang="en-US" altLang="ko-KR" dirty="0"/>
                <a:t> - </a:t>
              </a:r>
              <a:r>
                <a:rPr lang="ko-KR" altLang="en-US" dirty="0"/>
                <a:t>평균 재구성 오류</a:t>
              </a:r>
              <a:r>
                <a:rPr lang="en-US" altLang="ko-KR" dirty="0"/>
                <a:t>: 12345678.987654</a:t>
              </a:r>
            </a:p>
            <a:p>
              <a:r>
                <a:rPr lang="en-US" altLang="ko-KR" dirty="0"/>
                <a:t>✅ </a:t>
              </a:r>
              <a:r>
                <a:rPr lang="ko-KR" altLang="en-US" dirty="0"/>
                <a:t>진단결과</a:t>
              </a:r>
              <a:r>
                <a:rPr lang="en-US" altLang="ko-KR" dirty="0"/>
                <a:t>: </a:t>
              </a:r>
              <a:r>
                <a:rPr lang="ko-KR" altLang="en-US" dirty="0"/>
                <a:t>정상 데이터입니다</a:t>
              </a:r>
              <a:r>
                <a:rPr lang="en-US" altLang="ko-KR" dirty="0"/>
                <a:t>.</a:t>
              </a:r>
            </a:p>
          </p:txBody>
        </p:sp>
      </p:grp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D982E7AE-4D88-33BB-B5CD-5D08D5ED75F1}"/>
              </a:ext>
            </a:extLst>
          </p:cNvPr>
          <p:cNvSpPr txBox="1">
            <a:spLocks/>
          </p:cNvSpPr>
          <p:nvPr/>
        </p:nvSpPr>
        <p:spPr>
          <a:xfrm>
            <a:off x="447303" y="1460665"/>
            <a:ext cx="10294917" cy="813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/>
              <a:t>check_faulty_data.py </a:t>
            </a:r>
            <a:r>
              <a:rPr lang="ko-KR" altLang="en-US" sz="1800" dirty="0"/>
              <a:t>는 </a:t>
            </a:r>
            <a:r>
              <a:rPr lang="en-US" altLang="ko-KR" sz="1800" b="1" dirty="0"/>
              <a:t>Autoencoder </a:t>
            </a:r>
            <a:r>
              <a:rPr lang="ko-KR" altLang="en-US" sz="1800" b="1" dirty="0"/>
              <a:t>모델을 이용해 </a:t>
            </a:r>
            <a:r>
              <a:rPr lang="en-US" altLang="ko-KR" sz="1800" b="1" dirty="0" err="1"/>
              <a:t>wafer_data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내 진동 데이터를 판별</a:t>
            </a:r>
            <a:r>
              <a:rPr lang="ko-KR" altLang="en-US" sz="1800" dirty="0"/>
              <a:t>하고</a:t>
            </a:r>
            <a:r>
              <a:rPr lang="en-US" altLang="ko-KR" sz="1800" dirty="0"/>
              <a:t>,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ko-KR" sz="1800" dirty="0"/>
              <a:t>   </a:t>
            </a:r>
            <a:r>
              <a:rPr lang="ko-KR" altLang="en-US" sz="1800" b="1" dirty="0"/>
              <a:t>재구성 오류를 기준으로 고장 여부를 판단</a:t>
            </a:r>
            <a:r>
              <a:rPr lang="ko-KR" altLang="en-US" sz="1800" dirty="0"/>
              <a:t>하는 스크립트</a:t>
            </a:r>
            <a:endParaRPr lang="en-US" altLang="ko-KR" sz="180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009B212-2C75-8D5C-666C-1FD21A581B37}"/>
              </a:ext>
            </a:extLst>
          </p:cNvPr>
          <p:cNvSpPr txBox="1">
            <a:spLocks/>
          </p:cNvSpPr>
          <p:nvPr/>
        </p:nvSpPr>
        <p:spPr>
          <a:xfrm>
            <a:off x="220683" y="2713510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출력 예시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3114255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32BAB-F79F-F9F8-8C47-9208DCBDF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4AC0BD0-9F75-AE76-B165-0C2CA9EA6046}"/>
              </a:ext>
            </a:extLst>
          </p:cNvPr>
          <p:cNvSpPr/>
          <p:nvPr/>
        </p:nvSpPr>
        <p:spPr>
          <a:xfrm>
            <a:off x="672936" y="1508167"/>
            <a:ext cx="1322119" cy="2076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C4B2B78-3AE2-E3FC-48A0-BF898D687B50}"/>
              </a:ext>
            </a:extLst>
          </p:cNvPr>
          <p:cNvSpPr/>
          <p:nvPr/>
        </p:nvSpPr>
        <p:spPr>
          <a:xfrm>
            <a:off x="2636318" y="1033153"/>
            <a:ext cx="2826331" cy="37151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1A0356-A77E-21B2-87FD-F35BAC44F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주요 스크립트 사용법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F713768-BC28-D9D1-31F2-EA7455F42501}"/>
              </a:ext>
            </a:extLst>
          </p:cNvPr>
          <p:cNvSpPr txBox="1">
            <a:spLocks/>
          </p:cNvSpPr>
          <p:nvPr/>
        </p:nvSpPr>
        <p:spPr>
          <a:xfrm>
            <a:off x="220683" y="1021279"/>
            <a:ext cx="6227618" cy="436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학습 데이터 확인 </a:t>
            </a:r>
            <a:r>
              <a:rPr lang="en-US" altLang="ko-KR" sz="2000" dirty="0"/>
              <a:t>check_learning_data.py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109A4C92-041B-C908-630C-2332AEDDA448}"/>
              </a:ext>
            </a:extLst>
          </p:cNvPr>
          <p:cNvSpPr txBox="1">
            <a:spLocks/>
          </p:cNvSpPr>
          <p:nvPr/>
        </p:nvSpPr>
        <p:spPr>
          <a:xfrm>
            <a:off x="447303" y="1460665"/>
            <a:ext cx="10834255" cy="813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 err="1"/>
              <a:t>wafer_data</a:t>
            </a:r>
            <a:r>
              <a:rPr lang="en-US" altLang="ko-KR" sz="1800" dirty="0"/>
              <a:t>/ </a:t>
            </a:r>
            <a:r>
              <a:rPr lang="ko-KR" altLang="en-US" sz="1800" dirty="0"/>
              <a:t>내 </a:t>
            </a:r>
            <a:r>
              <a:rPr lang="ko-KR" altLang="en-US" sz="1800" b="1" dirty="0"/>
              <a:t>정상 상태 데이터 파일을 불러오고</a:t>
            </a:r>
            <a:r>
              <a:rPr lang="ko-KR" altLang="en-US" sz="1800" dirty="0"/>
              <a:t> </a:t>
            </a:r>
            <a:r>
              <a:rPr lang="ko-KR" altLang="en-US" sz="1800" b="1" dirty="0"/>
              <a:t>각 파일별 데이터 크기를 확인 및 검증</a:t>
            </a:r>
            <a:r>
              <a:rPr lang="ko-KR" altLang="en-US" sz="1800" dirty="0"/>
              <a:t>하는 용도</a:t>
            </a:r>
            <a:endParaRPr lang="en-US" altLang="ko-KR" sz="1800" dirty="0"/>
          </a:p>
          <a:p>
            <a:pPr>
              <a:spcBef>
                <a:spcPts val="1200"/>
              </a:spcBef>
            </a:pPr>
            <a:r>
              <a:rPr lang="en-US" altLang="ko-KR" sz="1800" dirty="0"/>
              <a:t>Autoencoder </a:t>
            </a:r>
            <a:r>
              <a:rPr lang="ko-KR" altLang="en-US" sz="1800" dirty="0"/>
              <a:t>학습 전에 데이터 포맷과 크기를 사전 점검하기 위해 사용함</a:t>
            </a:r>
            <a:endParaRPr lang="en-US" altLang="ko-KR" sz="180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DA9612A8-5C2C-E891-3A35-E1C1A5572B00}"/>
              </a:ext>
            </a:extLst>
          </p:cNvPr>
          <p:cNvSpPr txBox="1">
            <a:spLocks/>
          </p:cNvSpPr>
          <p:nvPr/>
        </p:nvSpPr>
        <p:spPr>
          <a:xfrm>
            <a:off x="220683" y="2360659"/>
            <a:ext cx="6785759" cy="426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실행 방법 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로컬 기준</a:t>
            </a:r>
            <a:r>
              <a:rPr lang="en-US" altLang="ko-KR" sz="2000" b="1" dirty="0"/>
              <a:t>) </a:t>
            </a:r>
            <a:r>
              <a:rPr lang="en-US" altLang="ko-KR" sz="2000" dirty="0"/>
              <a:t>← Docker </a:t>
            </a:r>
            <a:r>
              <a:rPr lang="ko-KR" altLang="en-US" sz="2000" dirty="0"/>
              <a:t>사용 </a:t>
            </a:r>
            <a:r>
              <a:rPr lang="ko-KR" altLang="en-US" sz="2000" dirty="0" err="1"/>
              <a:t>안할시</a:t>
            </a:r>
            <a:endParaRPr lang="en-US" altLang="ko-KR" sz="20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7D8FB62-94DA-99EA-1790-EA2E06FA9537}"/>
              </a:ext>
            </a:extLst>
          </p:cNvPr>
          <p:cNvGrpSpPr/>
          <p:nvPr/>
        </p:nvGrpSpPr>
        <p:grpSpPr>
          <a:xfrm>
            <a:off x="566551" y="2786739"/>
            <a:ext cx="10335491" cy="813459"/>
            <a:chOff x="773380" y="2339438"/>
            <a:chExt cx="10335491" cy="813459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87E96DE2-54E8-FD47-5B3D-09A7667FB823}"/>
                </a:ext>
              </a:extLst>
            </p:cNvPr>
            <p:cNvSpPr/>
            <p:nvPr/>
          </p:nvSpPr>
          <p:spPr>
            <a:xfrm>
              <a:off x="773380" y="2339438"/>
              <a:ext cx="10335491" cy="813459"/>
            </a:xfrm>
            <a:prstGeom prst="roundRect">
              <a:avLst>
                <a:gd name="adj" fmla="val 580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0C5320-7E35-833E-A978-9CBDAB74B147}"/>
                </a:ext>
              </a:extLst>
            </p:cNvPr>
            <p:cNvSpPr txBox="1"/>
            <p:nvPr/>
          </p:nvSpPr>
          <p:spPr>
            <a:xfrm>
              <a:off x="867889" y="2367862"/>
              <a:ext cx="858981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accent2"/>
                  </a:solidFill>
                </a:rPr>
                <a:t>cd</a:t>
              </a:r>
              <a:r>
                <a:rPr lang="en-US" altLang="ko-KR" dirty="0"/>
                <a:t> ~/</a:t>
              </a:r>
              <a:r>
                <a:rPr lang="en-US" altLang="ko-KR" dirty="0" err="1"/>
                <a:t>docker_autoenc</a:t>
              </a:r>
              <a:r>
                <a:rPr lang="en-US" altLang="ko-KR" dirty="0"/>
                <a:t>/</a:t>
              </a:r>
              <a:r>
                <a:rPr lang="en-US" altLang="ko-KR" dirty="0" err="1"/>
                <a:t>src</a:t>
              </a:r>
              <a:endParaRPr lang="en-US" altLang="ko-KR" dirty="0"/>
            </a:p>
            <a:p>
              <a:r>
                <a:rPr lang="en-US" altLang="ko-KR" dirty="0"/>
                <a:t>python3 check_learning_data.py</a:t>
              </a:r>
            </a:p>
          </p:txBody>
        </p:sp>
      </p:grp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3C0E9F89-CC89-D068-74DC-ADFF1370AA9E}"/>
              </a:ext>
            </a:extLst>
          </p:cNvPr>
          <p:cNvSpPr txBox="1">
            <a:spLocks/>
          </p:cNvSpPr>
          <p:nvPr/>
        </p:nvSpPr>
        <p:spPr>
          <a:xfrm>
            <a:off x="220683" y="3858221"/>
            <a:ext cx="9671462" cy="4260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실행 방법 </a:t>
            </a:r>
            <a:r>
              <a:rPr lang="en-US" altLang="ko-KR" sz="2000" b="1" dirty="0"/>
              <a:t>(Docker</a:t>
            </a:r>
            <a:r>
              <a:rPr lang="ko-KR" altLang="en-US" sz="2000" b="1" dirty="0"/>
              <a:t> 기준</a:t>
            </a:r>
            <a:r>
              <a:rPr lang="en-US" altLang="ko-KR" sz="2000" b="1" dirty="0"/>
              <a:t>)</a:t>
            </a:r>
            <a:endParaRPr lang="en-US" altLang="ko-KR" sz="2000" dirty="0"/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346C0F2F-A654-0665-A992-CB7D38434066}"/>
              </a:ext>
            </a:extLst>
          </p:cNvPr>
          <p:cNvSpPr txBox="1">
            <a:spLocks/>
          </p:cNvSpPr>
          <p:nvPr/>
        </p:nvSpPr>
        <p:spPr>
          <a:xfrm>
            <a:off x="447302" y="4284302"/>
            <a:ext cx="10834255" cy="4260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 err="1"/>
              <a:t>wafer_data</a:t>
            </a:r>
            <a:r>
              <a:rPr lang="ko-KR" altLang="en-US" sz="1800" dirty="0"/>
              <a:t>가 외부</a:t>
            </a:r>
            <a:r>
              <a:rPr lang="en-US" altLang="ko-KR" sz="1800" dirty="0"/>
              <a:t>(</a:t>
            </a:r>
            <a:r>
              <a:rPr lang="ko-KR" altLang="en-US" sz="1800" dirty="0"/>
              <a:t>로컬</a:t>
            </a:r>
            <a:r>
              <a:rPr lang="en-US" altLang="ko-KR" sz="1800" dirty="0"/>
              <a:t>)</a:t>
            </a:r>
            <a:r>
              <a:rPr lang="ko-KR" altLang="en-US" sz="1800" dirty="0"/>
              <a:t>에서 </a:t>
            </a:r>
            <a:r>
              <a:rPr lang="en-US" altLang="ko-KR" sz="1800" dirty="0"/>
              <a:t>Docker</a:t>
            </a:r>
            <a:r>
              <a:rPr lang="ko-KR" altLang="en-US" sz="1800" dirty="0"/>
              <a:t>내로 마운트 되는 경우</a:t>
            </a:r>
            <a:endParaRPr lang="en-US" altLang="ko-KR" sz="18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BDD84A5-ED24-6528-E9FA-A7062D4E7B8F}"/>
              </a:ext>
            </a:extLst>
          </p:cNvPr>
          <p:cNvGrpSpPr/>
          <p:nvPr/>
        </p:nvGrpSpPr>
        <p:grpSpPr>
          <a:xfrm>
            <a:off x="566551" y="4729797"/>
            <a:ext cx="10335491" cy="1228753"/>
            <a:chOff x="773380" y="2339438"/>
            <a:chExt cx="10335491" cy="1228753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CA9418C3-DB7F-FDCB-9DEB-2302EAF54A05}"/>
                </a:ext>
              </a:extLst>
            </p:cNvPr>
            <p:cNvSpPr/>
            <p:nvPr/>
          </p:nvSpPr>
          <p:spPr>
            <a:xfrm>
              <a:off x="773380" y="2339438"/>
              <a:ext cx="10335491" cy="1228753"/>
            </a:xfrm>
            <a:prstGeom prst="roundRect">
              <a:avLst>
                <a:gd name="adj" fmla="val 580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22197BD-28BE-1699-76EF-AC88E5DBF9D8}"/>
                </a:ext>
              </a:extLst>
            </p:cNvPr>
            <p:cNvSpPr txBox="1"/>
            <p:nvPr/>
          </p:nvSpPr>
          <p:spPr>
            <a:xfrm>
              <a:off x="867889" y="2367862"/>
              <a:ext cx="8589817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 err="1"/>
                <a:t>sudo</a:t>
              </a:r>
              <a:r>
                <a:rPr lang="en-US" altLang="ko-KR" dirty="0"/>
                <a:t> docker run --</a:t>
              </a:r>
              <a:r>
                <a:rPr lang="en-US" altLang="ko-KR" dirty="0">
                  <a:solidFill>
                    <a:schemeClr val="accent2"/>
                  </a:solidFill>
                </a:rPr>
                <a:t>rm</a:t>
              </a:r>
              <a:r>
                <a:rPr lang="en-US" altLang="ko-KR" dirty="0"/>
                <a:t> -it \</a:t>
              </a:r>
            </a:p>
            <a:p>
              <a:r>
                <a:rPr lang="en-US" altLang="ko-KR" dirty="0"/>
                <a:t>  -v ~/ros2_ws/</a:t>
              </a:r>
              <a:r>
                <a:rPr lang="en-US" altLang="ko-KR" dirty="0" err="1"/>
                <a:t>docker_autoenc</a:t>
              </a:r>
              <a:r>
                <a:rPr lang="en-US" altLang="ko-KR" dirty="0"/>
                <a:t>/</a:t>
              </a:r>
              <a:r>
                <a:rPr lang="en-US" altLang="ko-KR" dirty="0" err="1"/>
                <a:t>src</a:t>
              </a:r>
              <a:r>
                <a:rPr lang="en-US" altLang="ko-KR" dirty="0"/>
                <a:t>/</a:t>
              </a:r>
              <a:r>
                <a:rPr lang="en-US" altLang="ko-KR" dirty="0" err="1"/>
                <a:t>wafer_data</a:t>
              </a:r>
              <a:r>
                <a:rPr lang="en-US" altLang="ko-KR" dirty="0"/>
                <a:t>:/workspace/</a:t>
              </a:r>
              <a:r>
                <a:rPr lang="en-US" altLang="ko-KR" dirty="0" err="1"/>
                <a:t>src</a:t>
              </a:r>
              <a:r>
                <a:rPr lang="en-US" altLang="ko-KR" dirty="0"/>
                <a:t>/</a:t>
              </a:r>
              <a:r>
                <a:rPr lang="en-US" altLang="ko-KR" dirty="0" err="1"/>
                <a:t>wafer_data</a:t>
              </a:r>
              <a:r>
                <a:rPr lang="en-US" altLang="ko-KR" dirty="0"/>
                <a:t> \</a:t>
              </a:r>
            </a:p>
            <a:p>
              <a:r>
                <a:rPr lang="en-US" altLang="ko-KR" dirty="0"/>
                <a:t>  </a:t>
              </a:r>
              <a:r>
                <a:rPr lang="en-US" altLang="ko-KR" dirty="0" err="1"/>
                <a:t>autoenc</a:t>
              </a:r>
              <a:r>
                <a:rPr lang="en-US" altLang="ko-KR" dirty="0"/>
                <a:t>-docker \</a:t>
              </a:r>
            </a:p>
            <a:p>
              <a:r>
                <a:rPr lang="en-US" altLang="ko-KR" dirty="0"/>
                <a:t>  python /workspace/src/check_learning_data.py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449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EED08-E30D-6ECC-59E4-ECEDB7C49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39FBD50-A6E2-35B2-4F57-CCB4408DE721}"/>
              </a:ext>
            </a:extLst>
          </p:cNvPr>
          <p:cNvSpPr/>
          <p:nvPr/>
        </p:nvSpPr>
        <p:spPr>
          <a:xfrm>
            <a:off x="672936" y="1508167"/>
            <a:ext cx="1322119" cy="2076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0904107-BFA3-3138-A446-C00FE4CDD8FA}"/>
              </a:ext>
            </a:extLst>
          </p:cNvPr>
          <p:cNvSpPr/>
          <p:nvPr/>
        </p:nvSpPr>
        <p:spPr>
          <a:xfrm>
            <a:off x="8692736" y="3961323"/>
            <a:ext cx="1645063" cy="27865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2EF9324-F0C9-FC87-E498-77F9A2432861}"/>
              </a:ext>
            </a:extLst>
          </p:cNvPr>
          <p:cNvSpPr/>
          <p:nvPr/>
        </p:nvSpPr>
        <p:spPr>
          <a:xfrm>
            <a:off x="7033985" y="3965739"/>
            <a:ext cx="1543792" cy="27865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9E8EA12-4A8E-25B7-4E55-8A80CAE5C50D}"/>
              </a:ext>
            </a:extLst>
          </p:cNvPr>
          <p:cNvSpPr/>
          <p:nvPr/>
        </p:nvSpPr>
        <p:spPr>
          <a:xfrm>
            <a:off x="5415148" y="3967403"/>
            <a:ext cx="1543792" cy="27865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CE4E736-6DAA-74D5-7BEF-84B8313C49DE}"/>
              </a:ext>
            </a:extLst>
          </p:cNvPr>
          <p:cNvSpPr/>
          <p:nvPr/>
        </p:nvSpPr>
        <p:spPr>
          <a:xfrm>
            <a:off x="4028703" y="3429001"/>
            <a:ext cx="1386445" cy="30319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B2203F-E26F-8AC9-F016-8D733916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주요 스크립트 사용법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84A5FED4-A24B-DB24-DEE7-DD2527EC0A4B}"/>
              </a:ext>
            </a:extLst>
          </p:cNvPr>
          <p:cNvSpPr txBox="1">
            <a:spLocks/>
          </p:cNvSpPr>
          <p:nvPr/>
        </p:nvSpPr>
        <p:spPr>
          <a:xfrm>
            <a:off x="447303" y="1460664"/>
            <a:ext cx="10822379" cy="11720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 err="1"/>
              <a:t>wafer_data</a:t>
            </a:r>
            <a:r>
              <a:rPr lang="en-US" altLang="ko-KR" sz="1800" dirty="0"/>
              <a:t>/ </a:t>
            </a:r>
            <a:r>
              <a:rPr lang="ko-KR" altLang="en-US" sz="1800" dirty="0"/>
              <a:t>내 </a:t>
            </a:r>
            <a:r>
              <a:rPr lang="ko-KR" altLang="en-US" sz="1800" b="1" dirty="0"/>
              <a:t>정상 상태 데이터 파일을 불러오고</a:t>
            </a:r>
            <a:r>
              <a:rPr lang="ko-KR" altLang="en-US" sz="1800" dirty="0"/>
              <a:t> </a:t>
            </a:r>
            <a:r>
              <a:rPr lang="ko-KR" altLang="en-US" sz="1800" b="1" dirty="0"/>
              <a:t>각 파일별 데이터 크기를 확인 및 검증</a:t>
            </a:r>
            <a:r>
              <a:rPr lang="ko-KR" altLang="en-US" sz="1800" dirty="0"/>
              <a:t>하는 용도</a:t>
            </a:r>
            <a:endParaRPr lang="en-US" altLang="ko-KR" sz="1800" dirty="0"/>
          </a:p>
          <a:p>
            <a:pPr>
              <a:spcBef>
                <a:spcPts val="1200"/>
              </a:spcBef>
            </a:pPr>
            <a:r>
              <a:rPr lang="en-US" altLang="ko-KR" sz="1800" dirty="0"/>
              <a:t>Autoencoder </a:t>
            </a:r>
            <a:r>
              <a:rPr lang="ko-KR" altLang="en-US" sz="1800" dirty="0"/>
              <a:t>학습 전에 데이터 포맷과 크기를 사전 점검하기 위해 사용함</a:t>
            </a:r>
            <a:endParaRPr lang="en-US" altLang="ko-KR" sz="180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DCDA069-A365-AA1B-2FFE-C09D885633AD}"/>
              </a:ext>
            </a:extLst>
          </p:cNvPr>
          <p:cNvSpPr txBox="1">
            <a:spLocks/>
          </p:cNvSpPr>
          <p:nvPr/>
        </p:nvSpPr>
        <p:spPr>
          <a:xfrm>
            <a:off x="220683" y="2360658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코드 동작 방식</a:t>
            </a:r>
            <a:endParaRPr lang="en-US" altLang="ko-KR" sz="2000" b="1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D5E9C2E-D9A2-F199-CD72-21239E57DC36}"/>
              </a:ext>
            </a:extLst>
          </p:cNvPr>
          <p:cNvSpPr txBox="1">
            <a:spLocks/>
          </p:cNvSpPr>
          <p:nvPr/>
        </p:nvSpPr>
        <p:spPr>
          <a:xfrm>
            <a:off x="589807" y="2886580"/>
            <a:ext cx="185749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b="1" dirty="0"/>
              <a:t>단계</a:t>
            </a:r>
            <a:endParaRPr lang="en-US" altLang="ko-KR" sz="1800" b="1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B87989DB-84D6-D4C1-2DFD-C62D4DE1CE12}"/>
              </a:ext>
            </a:extLst>
          </p:cNvPr>
          <p:cNvSpPr txBox="1">
            <a:spLocks/>
          </p:cNvSpPr>
          <p:nvPr/>
        </p:nvSpPr>
        <p:spPr>
          <a:xfrm>
            <a:off x="3984170" y="2886580"/>
            <a:ext cx="185749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b="1"/>
              <a:t>설명</a:t>
            </a:r>
            <a:endParaRPr lang="en-US" altLang="ko-KR" sz="1800" b="1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BC105A5-AF76-13A9-93F0-7BFDD1A7C208}"/>
              </a:ext>
            </a:extLst>
          </p:cNvPr>
          <p:cNvCxnSpPr>
            <a:cxnSpLocks/>
          </p:cNvCxnSpPr>
          <p:nvPr/>
        </p:nvCxnSpPr>
        <p:spPr>
          <a:xfrm>
            <a:off x="672936" y="3313216"/>
            <a:ext cx="1060862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E1DAA3F4-F234-02E3-A662-AD5A72521B2D}"/>
              </a:ext>
            </a:extLst>
          </p:cNvPr>
          <p:cNvSpPr txBox="1">
            <a:spLocks/>
          </p:cNvSpPr>
          <p:nvPr/>
        </p:nvSpPr>
        <p:spPr>
          <a:xfrm>
            <a:off x="589807" y="3444893"/>
            <a:ext cx="2343400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1</a:t>
            </a:r>
            <a:r>
              <a:rPr lang="en-US" altLang="ko-KR" sz="1800" b="1"/>
              <a:t>. </a:t>
            </a:r>
            <a:r>
              <a:rPr lang="ko-KR" altLang="en-US" sz="1800" b="1" dirty="0"/>
              <a:t>데이터 경로 설정</a:t>
            </a:r>
            <a:endParaRPr lang="en-US" altLang="ko-KR" sz="1800" b="1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A04983E0-92E4-6D7F-3188-1B9C85B991E3}"/>
              </a:ext>
            </a:extLst>
          </p:cNvPr>
          <p:cNvSpPr txBox="1">
            <a:spLocks/>
          </p:cNvSpPr>
          <p:nvPr/>
        </p:nvSpPr>
        <p:spPr>
          <a:xfrm>
            <a:off x="3984169" y="3405250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dirty="0"/>
              <a:t>./</a:t>
            </a:r>
            <a:r>
              <a:rPr lang="en-US" altLang="ko-KR" sz="1800" dirty="0" err="1"/>
              <a:t>wafer_data</a:t>
            </a:r>
            <a:r>
              <a:rPr lang="en-US" altLang="ko-KR" sz="1800" dirty="0"/>
              <a:t>  </a:t>
            </a:r>
            <a:r>
              <a:rPr lang="ko-KR" altLang="en-US" sz="1800" dirty="0"/>
              <a:t>폴더 내 데이터를 대상으로 동작</a:t>
            </a:r>
            <a:endParaRPr lang="en-US" altLang="ko-KR" sz="1800" dirty="0"/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F2ACBD10-300C-57C7-BCBF-6187982E1973}"/>
              </a:ext>
            </a:extLst>
          </p:cNvPr>
          <p:cNvSpPr txBox="1">
            <a:spLocks/>
          </p:cNvSpPr>
          <p:nvPr/>
        </p:nvSpPr>
        <p:spPr>
          <a:xfrm>
            <a:off x="589806" y="3989671"/>
            <a:ext cx="2830288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2. </a:t>
            </a:r>
            <a:r>
              <a:rPr lang="ko-KR" altLang="en-US" sz="1800" b="1" dirty="0"/>
              <a:t>분석 대상 파일 리스트</a:t>
            </a:r>
            <a:endParaRPr lang="en-US" altLang="ko-KR" sz="1800" b="1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B638E36-1B8A-D849-0DAF-7E47591C3B16}"/>
              </a:ext>
            </a:extLst>
          </p:cNvPr>
          <p:cNvCxnSpPr>
            <a:cxnSpLocks/>
          </p:cNvCxnSpPr>
          <p:nvPr/>
        </p:nvCxnSpPr>
        <p:spPr>
          <a:xfrm>
            <a:off x="672936" y="3868942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DD713566-6BD0-03D8-677F-B9C1CBEA1C40}"/>
              </a:ext>
            </a:extLst>
          </p:cNvPr>
          <p:cNvSpPr txBox="1">
            <a:spLocks/>
          </p:cNvSpPr>
          <p:nvPr/>
        </p:nvSpPr>
        <p:spPr>
          <a:xfrm>
            <a:off x="3984169" y="3934428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dirty="0"/>
              <a:t>데이터 예시</a:t>
            </a:r>
            <a:r>
              <a:rPr lang="en-US" altLang="ko-KR" sz="1800" dirty="0"/>
              <a:t>: 340hz50per.txt, 340hz70per.txt, 340hz100per.txt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AFD22EE-C44F-2B24-B586-70BE2020F90E}"/>
              </a:ext>
            </a:extLst>
          </p:cNvPr>
          <p:cNvCxnSpPr>
            <a:cxnSpLocks/>
          </p:cNvCxnSpPr>
          <p:nvPr/>
        </p:nvCxnSpPr>
        <p:spPr>
          <a:xfrm>
            <a:off x="672936" y="4413078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0D675ECE-ABEC-1DAC-FEA8-6B4B001007C7}"/>
              </a:ext>
            </a:extLst>
          </p:cNvPr>
          <p:cNvSpPr txBox="1">
            <a:spLocks/>
          </p:cNvSpPr>
          <p:nvPr/>
        </p:nvSpPr>
        <p:spPr>
          <a:xfrm>
            <a:off x="589806" y="4516149"/>
            <a:ext cx="2830288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3. </a:t>
            </a:r>
            <a:r>
              <a:rPr lang="ko-KR" altLang="en-US" sz="1800" b="1" dirty="0"/>
              <a:t>데이터 로드 및 </a:t>
            </a:r>
            <a:r>
              <a:rPr lang="ko-KR" altLang="en-US" sz="1800" b="1" dirty="0" err="1"/>
              <a:t>전처리</a:t>
            </a:r>
            <a:endParaRPr lang="en-US" altLang="ko-KR" sz="1800" b="1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AE8FE779-26E8-2FB6-3F5D-956CFF5BDBC4}"/>
              </a:ext>
            </a:extLst>
          </p:cNvPr>
          <p:cNvSpPr txBox="1">
            <a:spLocks/>
          </p:cNvSpPr>
          <p:nvPr/>
        </p:nvSpPr>
        <p:spPr>
          <a:xfrm>
            <a:off x="3996044" y="4457107"/>
            <a:ext cx="7618025" cy="542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dirty="0"/>
              <a:t>각</a:t>
            </a:r>
            <a:r>
              <a:rPr lang="en-US" altLang="ko-KR" sz="1800" dirty="0"/>
              <a:t> </a:t>
            </a:r>
            <a:r>
              <a:rPr lang="ko-KR" altLang="en-US" sz="1800" dirty="0"/>
              <a:t>파일을 읽고</a:t>
            </a:r>
            <a:r>
              <a:rPr lang="en-US" altLang="ko-KR" sz="1800" dirty="0"/>
              <a:t>, </a:t>
            </a:r>
            <a:r>
              <a:rPr lang="ko-KR" altLang="en-US" sz="1800" dirty="0"/>
              <a:t>필요한 열</a:t>
            </a:r>
            <a:r>
              <a:rPr lang="en-US" altLang="ko-KR" sz="1800" dirty="0"/>
              <a:t>(Roll, Pitch, Yaw, </a:t>
            </a:r>
            <a:r>
              <a:rPr lang="en-US" altLang="ko-KR" sz="1800" dirty="0" err="1"/>
              <a:t>acc_x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acc_y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acc_z</a:t>
            </a:r>
            <a:r>
              <a:rPr lang="en-US" altLang="ko-KR" sz="1800" dirty="0"/>
              <a:t>)</a:t>
            </a:r>
            <a:r>
              <a:rPr lang="ko-KR" altLang="en-US" sz="1800" dirty="0"/>
              <a:t>를 추출하여 </a:t>
            </a:r>
            <a:r>
              <a:rPr lang="en-US" altLang="ko-KR" sz="1800" dirty="0" err="1"/>
              <a:t>numpy</a:t>
            </a:r>
            <a:r>
              <a:rPr lang="en-US" altLang="ko-KR" sz="1800" dirty="0"/>
              <a:t> </a:t>
            </a:r>
            <a:r>
              <a:rPr lang="ko-KR" altLang="en-US" sz="1800" dirty="0"/>
              <a:t>배열로 저장</a:t>
            </a:r>
            <a:endParaRPr lang="en-US" altLang="ko-KR" sz="1800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799FB28A-F6B8-F8FE-94E0-4AE1097B6E76}"/>
              </a:ext>
            </a:extLst>
          </p:cNvPr>
          <p:cNvCxnSpPr>
            <a:cxnSpLocks/>
          </p:cNvCxnSpPr>
          <p:nvPr/>
        </p:nvCxnSpPr>
        <p:spPr>
          <a:xfrm>
            <a:off x="672936" y="4990710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C1941E74-769F-66D9-848A-9310CCC95D92}"/>
              </a:ext>
            </a:extLst>
          </p:cNvPr>
          <p:cNvSpPr txBox="1">
            <a:spLocks/>
          </p:cNvSpPr>
          <p:nvPr/>
        </p:nvSpPr>
        <p:spPr>
          <a:xfrm>
            <a:off x="589805" y="5126125"/>
            <a:ext cx="3394363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4. </a:t>
            </a:r>
            <a:r>
              <a:rPr lang="ko-KR" altLang="en-US" sz="1800" b="1" dirty="0"/>
              <a:t>데이터 형식 오류 필터링</a:t>
            </a:r>
            <a:endParaRPr lang="en-US" altLang="ko-KR" sz="1800" b="1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4A2A5E3F-CC3E-C61B-7410-25700F20523A}"/>
              </a:ext>
            </a:extLst>
          </p:cNvPr>
          <p:cNvSpPr txBox="1">
            <a:spLocks/>
          </p:cNvSpPr>
          <p:nvPr/>
        </p:nvSpPr>
        <p:spPr>
          <a:xfrm>
            <a:off x="3984169" y="5134941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dirty="0"/>
              <a:t>잘못된 형식의 라인은 자동 무시</a:t>
            </a:r>
            <a:r>
              <a:rPr lang="en-US" altLang="ko-KR" sz="1800" dirty="0"/>
              <a:t>(</a:t>
            </a:r>
            <a:r>
              <a:rPr lang="ko-KR" altLang="en-US" sz="1800" dirty="0"/>
              <a:t>에러 출력 후 </a:t>
            </a:r>
            <a:r>
              <a:rPr lang="en-US" altLang="ko-KR" sz="1800" dirty="0"/>
              <a:t>continue)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7E66F976-7487-8BF1-9469-E0D1817F0190}"/>
              </a:ext>
            </a:extLst>
          </p:cNvPr>
          <p:cNvCxnSpPr>
            <a:cxnSpLocks/>
          </p:cNvCxnSpPr>
          <p:nvPr/>
        </p:nvCxnSpPr>
        <p:spPr>
          <a:xfrm>
            <a:off x="672936" y="5668545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8A5986EA-5C6C-5D8D-2C9E-373AC0274480}"/>
              </a:ext>
            </a:extLst>
          </p:cNvPr>
          <p:cNvSpPr txBox="1">
            <a:spLocks/>
          </p:cNvSpPr>
          <p:nvPr/>
        </p:nvSpPr>
        <p:spPr>
          <a:xfrm>
            <a:off x="589805" y="5747976"/>
            <a:ext cx="307966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5. </a:t>
            </a:r>
            <a:r>
              <a:rPr lang="ko-KR" altLang="en-US" sz="1800" b="1" dirty="0"/>
              <a:t>파일 별 데이터 크기 저장</a:t>
            </a:r>
            <a:endParaRPr lang="en-US" altLang="ko-KR" sz="1800" b="1" dirty="0"/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45BE51E9-B26E-76AD-9F63-61E391356312}"/>
              </a:ext>
            </a:extLst>
          </p:cNvPr>
          <p:cNvSpPr txBox="1">
            <a:spLocks/>
          </p:cNvSpPr>
          <p:nvPr/>
        </p:nvSpPr>
        <p:spPr>
          <a:xfrm>
            <a:off x="3996044" y="5772045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dirty="0"/>
              <a:t>파일별 데이터 </a:t>
            </a:r>
            <a:r>
              <a:rPr lang="en-US" altLang="ko-KR" sz="1800" dirty="0"/>
              <a:t>shape(</a:t>
            </a:r>
            <a:r>
              <a:rPr lang="ko-KR" altLang="en-US" sz="1800" dirty="0"/>
              <a:t>샘플 수</a:t>
            </a:r>
            <a:r>
              <a:rPr lang="en-US" altLang="ko-KR" sz="1800" dirty="0"/>
              <a:t>, 6</a:t>
            </a:r>
            <a:r>
              <a:rPr lang="ko-KR" altLang="en-US" sz="1800" dirty="0"/>
              <a:t>개 컬럼</a:t>
            </a:r>
            <a:r>
              <a:rPr lang="en-US" altLang="ko-KR" sz="1800" dirty="0"/>
              <a:t>)</a:t>
            </a:r>
            <a:r>
              <a:rPr lang="ko-KR" altLang="en-US" sz="1800" dirty="0"/>
              <a:t>을 저장</a:t>
            </a:r>
            <a:endParaRPr lang="en-US" altLang="ko-KR" sz="18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B76BF45-A32F-0AC8-F025-E9C609632195}"/>
              </a:ext>
            </a:extLst>
          </p:cNvPr>
          <p:cNvCxnSpPr>
            <a:cxnSpLocks/>
          </p:cNvCxnSpPr>
          <p:nvPr/>
        </p:nvCxnSpPr>
        <p:spPr>
          <a:xfrm>
            <a:off x="661060" y="6186896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34C684B1-BFBE-7ECC-AA46-E19255C3CE06}"/>
              </a:ext>
            </a:extLst>
          </p:cNvPr>
          <p:cNvSpPr txBox="1">
            <a:spLocks/>
          </p:cNvSpPr>
          <p:nvPr/>
        </p:nvSpPr>
        <p:spPr>
          <a:xfrm>
            <a:off x="577929" y="6266327"/>
            <a:ext cx="3697188" cy="5424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6. </a:t>
            </a:r>
            <a:r>
              <a:rPr lang="ko-KR" altLang="en-US" sz="1800" b="1" dirty="0"/>
              <a:t>전체 데이터 합산 및 크기 </a:t>
            </a:r>
            <a:endParaRPr lang="en-US" altLang="ko-KR" sz="1800" b="1" dirty="0"/>
          </a:p>
          <a:p>
            <a:pPr marL="0" indent="0">
              <a:spcBef>
                <a:spcPts val="300"/>
              </a:spcBef>
              <a:buNone/>
            </a:pPr>
            <a:r>
              <a:rPr lang="ko-KR" altLang="en-US" sz="1800" b="1" dirty="0"/>
              <a:t>    출력</a:t>
            </a:r>
            <a:endParaRPr lang="en-US" altLang="ko-KR" sz="1800" b="1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0A33050C-D3C1-ACE5-3464-7FD52D28A67F}"/>
              </a:ext>
            </a:extLst>
          </p:cNvPr>
          <p:cNvSpPr txBox="1">
            <a:spLocks/>
          </p:cNvSpPr>
          <p:nvPr/>
        </p:nvSpPr>
        <p:spPr>
          <a:xfrm>
            <a:off x="3984168" y="6290396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dirty="0"/>
              <a:t>전체 데이터를 합산하여 최종 크기 출력</a:t>
            </a:r>
            <a:endParaRPr lang="en-US" altLang="ko-KR" sz="18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104FC70-3628-5452-9222-8ED5E567F8FE}"/>
              </a:ext>
            </a:extLst>
          </p:cNvPr>
          <p:cNvSpPr/>
          <p:nvPr/>
        </p:nvSpPr>
        <p:spPr>
          <a:xfrm>
            <a:off x="2636318" y="1033153"/>
            <a:ext cx="2826331" cy="37151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2CB43145-3BA4-B8C3-53F8-7595CF43D10A}"/>
              </a:ext>
            </a:extLst>
          </p:cNvPr>
          <p:cNvSpPr txBox="1">
            <a:spLocks/>
          </p:cNvSpPr>
          <p:nvPr/>
        </p:nvSpPr>
        <p:spPr>
          <a:xfrm>
            <a:off x="220683" y="1021279"/>
            <a:ext cx="6227618" cy="436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학습 데이터 확인 </a:t>
            </a:r>
            <a:r>
              <a:rPr lang="en-US" altLang="ko-KR" sz="2000" dirty="0"/>
              <a:t>check_learning_data.py</a:t>
            </a:r>
          </a:p>
        </p:txBody>
      </p:sp>
    </p:spTree>
    <p:extLst>
      <p:ext uri="{BB962C8B-B14F-4D97-AF65-F5344CB8AC3E}">
        <p14:creationId xmlns:p14="http://schemas.microsoft.com/office/powerpoint/2010/main" val="592762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AE646-E23B-8141-9A0F-CDF468E7D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802CFD4-1293-8526-AA9E-533244112FC9}"/>
              </a:ext>
            </a:extLst>
          </p:cNvPr>
          <p:cNvSpPr/>
          <p:nvPr/>
        </p:nvSpPr>
        <p:spPr>
          <a:xfrm>
            <a:off x="672936" y="1508167"/>
            <a:ext cx="1322119" cy="2076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3F4103A-7BB4-1CAD-CC45-C54BEB40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주요 스크립트 사용법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F84E762-9FD2-D385-7AC4-F5BCAFA77834}"/>
              </a:ext>
            </a:extLst>
          </p:cNvPr>
          <p:cNvGrpSpPr/>
          <p:nvPr/>
        </p:nvGrpSpPr>
        <p:grpSpPr>
          <a:xfrm>
            <a:off x="554676" y="3152897"/>
            <a:ext cx="10335491" cy="3010397"/>
            <a:chOff x="773380" y="2339438"/>
            <a:chExt cx="10335491" cy="3010397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2B29DB11-F1DB-B285-55D5-9D1D3C72E79D}"/>
                </a:ext>
              </a:extLst>
            </p:cNvPr>
            <p:cNvSpPr/>
            <p:nvPr/>
          </p:nvSpPr>
          <p:spPr>
            <a:xfrm>
              <a:off x="773380" y="2339438"/>
              <a:ext cx="10335491" cy="3010397"/>
            </a:xfrm>
            <a:prstGeom prst="roundRect">
              <a:avLst>
                <a:gd name="adj" fmla="val 580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4F73359-47D9-B887-3F67-7FCD6D61D5AD}"/>
                </a:ext>
              </a:extLst>
            </p:cNvPr>
            <p:cNvSpPr txBox="1"/>
            <p:nvPr/>
          </p:nvSpPr>
          <p:spPr>
            <a:xfrm>
              <a:off x="867889" y="2367862"/>
              <a:ext cx="8589817" cy="2862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===== </a:t>
              </a:r>
              <a:r>
                <a:rPr lang="ko-KR" altLang="en-US" dirty="0"/>
                <a:t>개별 파일 데이터 크기 확인 </a:t>
              </a:r>
              <a:r>
                <a:rPr lang="en-US" altLang="ko-KR" dirty="0"/>
                <a:t>=====</a:t>
              </a:r>
            </a:p>
            <a:p>
              <a:r>
                <a:rPr lang="en-US" altLang="ko-KR" dirty="0"/>
                <a:t>340hz50per.txt: (1000, 6)</a:t>
              </a:r>
            </a:p>
            <a:p>
              <a:r>
                <a:rPr lang="en-US" altLang="ko-KR" dirty="0"/>
                <a:t>340hz70per.txt: (1000, 6)</a:t>
              </a:r>
            </a:p>
            <a:p>
              <a:r>
                <a:rPr lang="en-US" altLang="ko-KR" dirty="0"/>
                <a:t>340hz100per.txt: (1000, 6)</a:t>
              </a:r>
            </a:p>
            <a:p>
              <a:r>
                <a:rPr lang="en-US" altLang="ko-KR" dirty="0"/>
                <a:t>350hz50per.txt: (1000, 6)</a:t>
              </a:r>
            </a:p>
            <a:p>
              <a:r>
                <a:rPr lang="en-US" altLang="ko-KR" dirty="0"/>
                <a:t>350hz70per.txt: (1000, 6)</a:t>
              </a:r>
            </a:p>
            <a:p>
              <a:r>
                <a:rPr lang="en-US" altLang="ko-KR" dirty="0"/>
                <a:t>350hz100per.txt: (1000, 6)</a:t>
              </a:r>
            </a:p>
            <a:p>
              <a:endParaRPr lang="en-US" altLang="ko-KR" dirty="0"/>
            </a:p>
            <a:p>
              <a:r>
                <a:rPr lang="en-US" altLang="ko-KR" dirty="0"/>
                <a:t>===== </a:t>
              </a:r>
              <a:r>
                <a:rPr lang="ko-KR" altLang="en-US" dirty="0"/>
                <a:t>전체 데이터 크기 </a:t>
              </a:r>
              <a:r>
                <a:rPr lang="en-US" altLang="ko-KR" dirty="0"/>
                <a:t>=====</a:t>
              </a:r>
            </a:p>
            <a:p>
              <a:r>
                <a:rPr lang="en-US" altLang="ko-KR" dirty="0"/>
                <a:t>Total Data Size: (6000, 6)</a:t>
              </a:r>
            </a:p>
          </p:txBody>
        </p:sp>
      </p:grp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7B74AE62-004C-B1AE-4214-E6270F2A1BAC}"/>
              </a:ext>
            </a:extLst>
          </p:cNvPr>
          <p:cNvSpPr txBox="1">
            <a:spLocks/>
          </p:cNvSpPr>
          <p:nvPr/>
        </p:nvSpPr>
        <p:spPr>
          <a:xfrm>
            <a:off x="447303" y="1460665"/>
            <a:ext cx="10774879" cy="11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 err="1"/>
              <a:t>wafer_data</a:t>
            </a:r>
            <a:r>
              <a:rPr lang="en-US" altLang="ko-KR" sz="1800" dirty="0"/>
              <a:t>/ </a:t>
            </a:r>
            <a:r>
              <a:rPr lang="ko-KR" altLang="en-US" sz="1800" dirty="0"/>
              <a:t>내 </a:t>
            </a:r>
            <a:r>
              <a:rPr lang="ko-KR" altLang="en-US" sz="1800" b="1" dirty="0"/>
              <a:t>정상 상태 데이터 파일을 불러오고</a:t>
            </a:r>
            <a:r>
              <a:rPr lang="ko-KR" altLang="en-US" sz="1800" dirty="0"/>
              <a:t> </a:t>
            </a:r>
            <a:r>
              <a:rPr lang="ko-KR" altLang="en-US" sz="1800" b="1" dirty="0"/>
              <a:t>각 파일별 데이터 크기를 확인 및 검증</a:t>
            </a:r>
            <a:r>
              <a:rPr lang="ko-KR" altLang="en-US" sz="1800" dirty="0"/>
              <a:t>하는 용도</a:t>
            </a:r>
            <a:endParaRPr lang="en-US" altLang="ko-KR" sz="1800" dirty="0"/>
          </a:p>
          <a:p>
            <a:pPr>
              <a:spcBef>
                <a:spcPts val="1200"/>
              </a:spcBef>
            </a:pPr>
            <a:r>
              <a:rPr lang="en-US" altLang="ko-KR" sz="1800" dirty="0"/>
              <a:t>Autoencoder </a:t>
            </a:r>
            <a:r>
              <a:rPr lang="ko-KR" altLang="en-US" sz="1800" dirty="0"/>
              <a:t>학습 전에 데이터 포맷과 크기를 사전 점검하기 위해 사용함</a:t>
            </a:r>
            <a:endParaRPr lang="en-US" altLang="ko-KR" sz="180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3522B27-45D8-0F80-08C1-8831864FF44A}"/>
              </a:ext>
            </a:extLst>
          </p:cNvPr>
          <p:cNvSpPr txBox="1">
            <a:spLocks/>
          </p:cNvSpPr>
          <p:nvPr/>
        </p:nvSpPr>
        <p:spPr>
          <a:xfrm>
            <a:off x="220683" y="2713510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출력 예시</a:t>
            </a:r>
            <a:endParaRPr lang="en-US" altLang="ko-KR" sz="20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6CC25B5-5D27-9680-EB46-A8F283183BB7}"/>
              </a:ext>
            </a:extLst>
          </p:cNvPr>
          <p:cNvSpPr/>
          <p:nvPr/>
        </p:nvSpPr>
        <p:spPr>
          <a:xfrm>
            <a:off x="2636318" y="1033153"/>
            <a:ext cx="2826331" cy="37151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5430ADD-3394-ECBA-E83A-2961B219B39E}"/>
              </a:ext>
            </a:extLst>
          </p:cNvPr>
          <p:cNvSpPr txBox="1">
            <a:spLocks/>
          </p:cNvSpPr>
          <p:nvPr/>
        </p:nvSpPr>
        <p:spPr>
          <a:xfrm>
            <a:off x="220683" y="1021279"/>
            <a:ext cx="6227618" cy="436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학습 데이터 확인 </a:t>
            </a:r>
            <a:r>
              <a:rPr lang="en-US" altLang="ko-KR" sz="2000" dirty="0"/>
              <a:t>check_learning_data.py</a:t>
            </a:r>
          </a:p>
        </p:txBody>
      </p:sp>
    </p:spTree>
    <p:extLst>
      <p:ext uri="{BB962C8B-B14F-4D97-AF65-F5344CB8AC3E}">
        <p14:creationId xmlns:p14="http://schemas.microsoft.com/office/powerpoint/2010/main" val="2325525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1A6FC-B084-34A0-BE80-2239D0D12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106A9-F970-BA16-CF4A-2BD6653AC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주요 스크립트 사용법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538F11F6-8862-6D96-8685-21FB05270779}"/>
              </a:ext>
            </a:extLst>
          </p:cNvPr>
          <p:cNvSpPr txBox="1">
            <a:spLocks/>
          </p:cNvSpPr>
          <p:nvPr/>
        </p:nvSpPr>
        <p:spPr>
          <a:xfrm>
            <a:off x="220683" y="2360659"/>
            <a:ext cx="6785759" cy="426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실행 방법 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로컬 기준</a:t>
            </a:r>
            <a:r>
              <a:rPr lang="en-US" altLang="ko-KR" sz="2000" b="1" dirty="0"/>
              <a:t>) </a:t>
            </a:r>
            <a:r>
              <a:rPr lang="en-US" altLang="ko-KR" sz="2000" dirty="0"/>
              <a:t>← Docker </a:t>
            </a:r>
            <a:r>
              <a:rPr lang="ko-KR" altLang="en-US" sz="2000" dirty="0"/>
              <a:t>사용 </a:t>
            </a:r>
            <a:r>
              <a:rPr lang="ko-KR" altLang="en-US" sz="2000" dirty="0" err="1"/>
              <a:t>안할시</a:t>
            </a:r>
            <a:endParaRPr lang="en-US" altLang="ko-KR" sz="20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A2A9336-3ED9-B810-8391-132E60D748DE}"/>
              </a:ext>
            </a:extLst>
          </p:cNvPr>
          <p:cNvGrpSpPr/>
          <p:nvPr/>
        </p:nvGrpSpPr>
        <p:grpSpPr>
          <a:xfrm>
            <a:off x="566551" y="2786739"/>
            <a:ext cx="10335491" cy="813459"/>
            <a:chOff x="773380" y="2339438"/>
            <a:chExt cx="10335491" cy="813459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81C1C835-FD26-6A0C-7A22-BB147FE162E6}"/>
                </a:ext>
              </a:extLst>
            </p:cNvPr>
            <p:cNvSpPr/>
            <p:nvPr/>
          </p:nvSpPr>
          <p:spPr>
            <a:xfrm>
              <a:off x="773380" y="2339438"/>
              <a:ext cx="10335491" cy="813459"/>
            </a:xfrm>
            <a:prstGeom prst="roundRect">
              <a:avLst>
                <a:gd name="adj" fmla="val 580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B901C2C-EADC-CF18-BA7A-028D993EB8E8}"/>
                </a:ext>
              </a:extLst>
            </p:cNvPr>
            <p:cNvSpPr txBox="1"/>
            <p:nvPr/>
          </p:nvSpPr>
          <p:spPr>
            <a:xfrm>
              <a:off x="867889" y="2367862"/>
              <a:ext cx="858981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accent2"/>
                  </a:solidFill>
                </a:rPr>
                <a:t>cd </a:t>
              </a:r>
              <a:r>
                <a:rPr lang="en-US" altLang="ko-KR" dirty="0"/>
                <a:t>~/</a:t>
              </a:r>
              <a:r>
                <a:rPr lang="en-US" altLang="ko-KR" dirty="0" err="1"/>
                <a:t>docker_autoenc</a:t>
              </a:r>
              <a:r>
                <a:rPr lang="en-US" altLang="ko-KR" dirty="0"/>
                <a:t>/</a:t>
              </a:r>
              <a:r>
                <a:rPr lang="en-US" altLang="ko-KR" dirty="0" err="1"/>
                <a:t>src</a:t>
              </a:r>
              <a:endParaRPr lang="en-US" altLang="ko-KR" dirty="0"/>
            </a:p>
            <a:p>
              <a:r>
                <a:rPr lang="en-US" altLang="ko-KR" dirty="0"/>
                <a:t>python3 train_autoenc.py</a:t>
              </a:r>
            </a:p>
          </p:txBody>
        </p:sp>
      </p:grp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69B4E18-39C2-27AC-1D04-BE0B28104EE7}"/>
              </a:ext>
            </a:extLst>
          </p:cNvPr>
          <p:cNvSpPr txBox="1">
            <a:spLocks/>
          </p:cNvSpPr>
          <p:nvPr/>
        </p:nvSpPr>
        <p:spPr>
          <a:xfrm>
            <a:off x="220683" y="3858221"/>
            <a:ext cx="9671462" cy="4260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실행 방법 </a:t>
            </a:r>
            <a:r>
              <a:rPr lang="en-US" altLang="ko-KR" sz="2000" b="1" dirty="0"/>
              <a:t>(Docker</a:t>
            </a:r>
            <a:r>
              <a:rPr lang="ko-KR" altLang="en-US" sz="2000" b="1" dirty="0"/>
              <a:t> 기준</a:t>
            </a:r>
            <a:r>
              <a:rPr lang="en-US" altLang="ko-KR" sz="2000" b="1" dirty="0"/>
              <a:t>)</a:t>
            </a:r>
            <a:endParaRPr lang="en-US" altLang="ko-KR" sz="2000" dirty="0"/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9704E532-2B54-DE10-2C5A-CFCBAA4265B8}"/>
              </a:ext>
            </a:extLst>
          </p:cNvPr>
          <p:cNvSpPr txBox="1">
            <a:spLocks/>
          </p:cNvSpPr>
          <p:nvPr/>
        </p:nvSpPr>
        <p:spPr>
          <a:xfrm>
            <a:off x="447302" y="4284302"/>
            <a:ext cx="10834255" cy="4260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 err="1"/>
              <a:t>wafer_data</a:t>
            </a:r>
            <a:r>
              <a:rPr lang="ko-KR" altLang="en-US" sz="1800" dirty="0"/>
              <a:t>가 외부</a:t>
            </a:r>
            <a:r>
              <a:rPr lang="en-US" altLang="ko-KR" sz="1800" dirty="0"/>
              <a:t>(</a:t>
            </a:r>
            <a:r>
              <a:rPr lang="ko-KR" altLang="en-US" sz="1800" dirty="0"/>
              <a:t>로컬</a:t>
            </a:r>
            <a:r>
              <a:rPr lang="en-US" altLang="ko-KR" sz="1800" dirty="0"/>
              <a:t>)</a:t>
            </a:r>
            <a:r>
              <a:rPr lang="ko-KR" altLang="en-US" sz="1800" dirty="0"/>
              <a:t>에서 </a:t>
            </a:r>
            <a:r>
              <a:rPr lang="en-US" altLang="ko-KR" sz="1800" dirty="0"/>
              <a:t>Docker</a:t>
            </a:r>
            <a:r>
              <a:rPr lang="ko-KR" altLang="en-US" sz="1800" dirty="0"/>
              <a:t>내로 마운트 되는 경우</a:t>
            </a:r>
            <a:endParaRPr lang="en-US" altLang="ko-KR" sz="18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EFEA92E-0A8B-433B-EAF3-C0972DA441F9}"/>
              </a:ext>
            </a:extLst>
          </p:cNvPr>
          <p:cNvGrpSpPr/>
          <p:nvPr/>
        </p:nvGrpSpPr>
        <p:grpSpPr>
          <a:xfrm>
            <a:off x="566551" y="4729797"/>
            <a:ext cx="10335491" cy="1477329"/>
            <a:chOff x="773380" y="2339438"/>
            <a:chExt cx="10335491" cy="1477329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71622490-5E66-07B4-9F2D-F9E9E60423BF}"/>
                </a:ext>
              </a:extLst>
            </p:cNvPr>
            <p:cNvSpPr/>
            <p:nvPr/>
          </p:nvSpPr>
          <p:spPr>
            <a:xfrm>
              <a:off x="773380" y="2339439"/>
              <a:ext cx="10335491" cy="1477328"/>
            </a:xfrm>
            <a:prstGeom prst="roundRect">
              <a:avLst>
                <a:gd name="adj" fmla="val 580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EBCD26B-CD17-53A1-4C35-2BD31F204283}"/>
                </a:ext>
              </a:extLst>
            </p:cNvPr>
            <p:cNvSpPr txBox="1"/>
            <p:nvPr/>
          </p:nvSpPr>
          <p:spPr>
            <a:xfrm>
              <a:off x="867889" y="2339438"/>
              <a:ext cx="10240982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 err="1"/>
                <a:t>sudo</a:t>
              </a:r>
              <a:r>
                <a:rPr lang="en-US" altLang="ko-KR" dirty="0"/>
                <a:t> docker run --</a:t>
              </a:r>
              <a:r>
                <a:rPr lang="en-US" altLang="ko-KR" dirty="0">
                  <a:solidFill>
                    <a:schemeClr val="accent2"/>
                  </a:solidFill>
                </a:rPr>
                <a:t>rm</a:t>
              </a:r>
              <a:r>
                <a:rPr lang="en-US" altLang="ko-KR" dirty="0"/>
                <a:t> -it \</a:t>
              </a:r>
            </a:p>
            <a:p>
              <a:r>
                <a:rPr lang="en-US" altLang="ko-KR" dirty="0"/>
                <a:t>  -v ~/</a:t>
              </a:r>
              <a:r>
                <a:rPr lang="en-US" altLang="ko-KR" dirty="0" err="1"/>
                <a:t>docker_autoenc</a:t>
              </a:r>
              <a:r>
                <a:rPr lang="en-US" altLang="ko-KR" dirty="0"/>
                <a:t>/</a:t>
              </a:r>
              <a:r>
                <a:rPr lang="en-US" altLang="ko-KR" dirty="0" err="1"/>
                <a:t>src</a:t>
              </a:r>
              <a:r>
                <a:rPr lang="en-US" altLang="ko-KR" dirty="0"/>
                <a:t>/</a:t>
              </a:r>
              <a:r>
                <a:rPr lang="en-US" altLang="ko-KR" dirty="0" err="1"/>
                <a:t>wafer_data</a:t>
              </a:r>
              <a:r>
                <a:rPr lang="en-US" altLang="ko-KR" dirty="0"/>
                <a:t>:/workspace/</a:t>
              </a:r>
              <a:r>
                <a:rPr lang="en-US" altLang="ko-KR" dirty="0" err="1"/>
                <a:t>src</a:t>
              </a:r>
              <a:r>
                <a:rPr lang="en-US" altLang="ko-KR" dirty="0"/>
                <a:t>/</a:t>
              </a:r>
              <a:r>
                <a:rPr lang="en-US" altLang="ko-KR" dirty="0" err="1"/>
                <a:t>wafer_data</a:t>
              </a:r>
              <a:r>
                <a:rPr lang="en-US" altLang="ko-KR" dirty="0"/>
                <a:t> \</a:t>
              </a:r>
            </a:p>
            <a:p>
              <a:r>
                <a:rPr lang="en-US" altLang="ko-KR" dirty="0"/>
                <a:t>  -v ~/</a:t>
              </a:r>
              <a:r>
                <a:rPr lang="en-US" altLang="ko-KR" dirty="0" err="1"/>
                <a:t>docker_autoenc</a:t>
              </a:r>
              <a:r>
                <a:rPr lang="en-US" altLang="ko-KR" dirty="0"/>
                <a:t>/models:/workspace/</a:t>
              </a:r>
              <a:r>
                <a:rPr lang="en-US" altLang="ko-KR" dirty="0" err="1"/>
                <a:t>src</a:t>
              </a:r>
              <a:r>
                <a:rPr lang="en-US" altLang="ko-KR" dirty="0"/>
                <a:t>/models \</a:t>
              </a:r>
            </a:p>
            <a:p>
              <a:r>
                <a:rPr lang="en-US" altLang="ko-KR" dirty="0"/>
                <a:t>  </a:t>
              </a:r>
              <a:r>
                <a:rPr lang="en-US" altLang="ko-KR" dirty="0" err="1"/>
                <a:t>autoenc</a:t>
              </a:r>
              <a:r>
                <a:rPr lang="en-US" altLang="ko-KR" dirty="0"/>
                <a:t>-docker \</a:t>
              </a:r>
            </a:p>
            <a:p>
              <a:r>
                <a:rPr lang="en-US" altLang="ko-KR" dirty="0"/>
                <a:t>  python /workspace/src/train_autoenc.py</a:t>
              </a:r>
            </a:p>
          </p:txBody>
        </p:sp>
      </p:grp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C820978-A078-AF0E-2FA3-D017BE724B54}"/>
              </a:ext>
            </a:extLst>
          </p:cNvPr>
          <p:cNvSpPr/>
          <p:nvPr/>
        </p:nvSpPr>
        <p:spPr>
          <a:xfrm>
            <a:off x="10153403" y="1464423"/>
            <a:ext cx="496786" cy="2751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54252F5-396C-09AF-A298-319627DAD7A5}"/>
              </a:ext>
            </a:extLst>
          </p:cNvPr>
          <p:cNvSpPr/>
          <p:nvPr/>
        </p:nvSpPr>
        <p:spPr>
          <a:xfrm>
            <a:off x="672936" y="1508167"/>
            <a:ext cx="1322119" cy="2076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2F68491A-59B1-E2D5-B942-C6C261C1FFE9}"/>
              </a:ext>
            </a:extLst>
          </p:cNvPr>
          <p:cNvSpPr txBox="1">
            <a:spLocks/>
          </p:cNvSpPr>
          <p:nvPr/>
        </p:nvSpPr>
        <p:spPr>
          <a:xfrm>
            <a:off x="447303" y="1460665"/>
            <a:ext cx="10774879" cy="11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 err="1"/>
              <a:t>wafer_data</a:t>
            </a:r>
            <a:r>
              <a:rPr lang="en-US" altLang="ko-KR" sz="1800" dirty="0"/>
              <a:t>/ </a:t>
            </a:r>
            <a:r>
              <a:rPr lang="ko-KR" altLang="en-US" sz="1800" dirty="0"/>
              <a:t>내 </a:t>
            </a:r>
            <a:r>
              <a:rPr lang="ko-KR" altLang="en-US" sz="1800" b="1" dirty="0"/>
              <a:t>정상 상태 데이터 파일을 기반으로 </a:t>
            </a:r>
            <a:r>
              <a:rPr lang="en-US" altLang="ko-KR" sz="1800" b="1" dirty="0"/>
              <a:t>Autoencoder</a:t>
            </a:r>
            <a:r>
              <a:rPr lang="ko-KR" altLang="en-US" sz="1800" b="1" dirty="0"/>
              <a:t>를 학습</a:t>
            </a:r>
            <a:r>
              <a:rPr lang="ko-KR" altLang="en-US" sz="1800" dirty="0"/>
              <a:t>하고 학습된 모델을 </a:t>
            </a:r>
            <a:r>
              <a:rPr lang="en-US" altLang="ko-KR" sz="1800" dirty="0"/>
              <a:t>.</a:t>
            </a:r>
            <a:r>
              <a:rPr lang="en-US" altLang="ko-KR" sz="1800" dirty="0" err="1"/>
              <a:t>pth</a:t>
            </a:r>
            <a:r>
              <a:rPr lang="ko-KR" altLang="en-US" sz="1800" dirty="0"/>
              <a:t> 파일로 저장하며</a:t>
            </a:r>
            <a:r>
              <a:rPr lang="en-US" altLang="ko-KR" sz="1800" dirty="0"/>
              <a:t>, </a:t>
            </a:r>
            <a:r>
              <a:rPr lang="ko-KR" altLang="en-US" sz="1800" dirty="0"/>
              <a:t>학습 </a:t>
            </a:r>
            <a:r>
              <a:rPr lang="en-US" altLang="ko-KR" sz="1800" dirty="0"/>
              <a:t>Loss </a:t>
            </a:r>
            <a:r>
              <a:rPr lang="ko-KR" altLang="en-US" sz="1800" dirty="0"/>
              <a:t>시각화 및 결과를 파일로 출력</a:t>
            </a:r>
            <a:endParaRPr lang="en-US" altLang="ko-KR" sz="18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FE792FC-267E-7A0B-1FCF-E78111EAE22C}"/>
              </a:ext>
            </a:extLst>
          </p:cNvPr>
          <p:cNvSpPr/>
          <p:nvPr/>
        </p:nvSpPr>
        <p:spPr>
          <a:xfrm>
            <a:off x="1805046" y="1045884"/>
            <a:ext cx="1983184" cy="3426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F4EFFD66-6F8C-01AA-E077-11FA0E730D18}"/>
              </a:ext>
            </a:extLst>
          </p:cNvPr>
          <p:cNvSpPr txBox="1">
            <a:spLocks/>
          </p:cNvSpPr>
          <p:nvPr/>
        </p:nvSpPr>
        <p:spPr>
          <a:xfrm>
            <a:off x="220683" y="1021279"/>
            <a:ext cx="6227618" cy="436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모델 학습 </a:t>
            </a:r>
            <a:r>
              <a:rPr lang="en-US" altLang="ko-KR" sz="2000" dirty="0"/>
              <a:t>train_autoenc.py</a:t>
            </a:r>
          </a:p>
        </p:txBody>
      </p:sp>
    </p:spTree>
    <p:extLst>
      <p:ext uri="{BB962C8B-B14F-4D97-AF65-F5344CB8AC3E}">
        <p14:creationId xmlns:p14="http://schemas.microsoft.com/office/powerpoint/2010/main" val="3908546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C2DD8-6169-35C9-647F-73A1E57F2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CC037FE-3A7F-1D65-6C63-0471AF4A44F0}"/>
              </a:ext>
            </a:extLst>
          </p:cNvPr>
          <p:cNvSpPr/>
          <p:nvPr/>
        </p:nvSpPr>
        <p:spPr>
          <a:xfrm>
            <a:off x="4028703" y="3429001"/>
            <a:ext cx="1667247" cy="21155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CBE54E3-67C5-689E-1188-E21857F90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주요 스크립트 사용법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157A8D1-BE86-D41A-5AE6-85C36EAEA98A}"/>
              </a:ext>
            </a:extLst>
          </p:cNvPr>
          <p:cNvSpPr txBox="1">
            <a:spLocks/>
          </p:cNvSpPr>
          <p:nvPr/>
        </p:nvSpPr>
        <p:spPr>
          <a:xfrm>
            <a:off x="220683" y="2360658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코드 동작 방식</a:t>
            </a:r>
            <a:endParaRPr lang="en-US" altLang="ko-KR" sz="2000" b="1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A01C13EA-351C-EF4F-B324-4EC10D41C612}"/>
              </a:ext>
            </a:extLst>
          </p:cNvPr>
          <p:cNvSpPr txBox="1">
            <a:spLocks/>
          </p:cNvSpPr>
          <p:nvPr/>
        </p:nvSpPr>
        <p:spPr>
          <a:xfrm>
            <a:off x="589807" y="2886580"/>
            <a:ext cx="185749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b="1" dirty="0"/>
              <a:t>단계</a:t>
            </a:r>
            <a:endParaRPr lang="en-US" altLang="ko-KR" sz="1800" b="1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91031109-58D9-76A1-6BC0-3B8E0F51CEDD}"/>
              </a:ext>
            </a:extLst>
          </p:cNvPr>
          <p:cNvSpPr txBox="1">
            <a:spLocks/>
          </p:cNvSpPr>
          <p:nvPr/>
        </p:nvSpPr>
        <p:spPr>
          <a:xfrm>
            <a:off x="3984170" y="2886580"/>
            <a:ext cx="185749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b="1"/>
              <a:t>설명</a:t>
            </a:r>
            <a:endParaRPr lang="en-US" altLang="ko-KR" sz="1800" b="1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4C4DA0E-7146-B064-F9D9-EFA58D16D1C7}"/>
              </a:ext>
            </a:extLst>
          </p:cNvPr>
          <p:cNvCxnSpPr>
            <a:cxnSpLocks/>
          </p:cNvCxnSpPr>
          <p:nvPr/>
        </p:nvCxnSpPr>
        <p:spPr>
          <a:xfrm>
            <a:off x="672936" y="3313216"/>
            <a:ext cx="1060862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CC9C8B76-E1AE-4AAA-03E8-385490191180}"/>
              </a:ext>
            </a:extLst>
          </p:cNvPr>
          <p:cNvSpPr txBox="1">
            <a:spLocks/>
          </p:cNvSpPr>
          <p:nvPr/>
        </p:nvSpPr>
        <p:spPr>
          <a:xfrm>
            <a:off x="589806" y="3444893"/>
            <a:ext cx="292528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1. </a:t>
            </a:r>
            <a:r>
              <a:rPr lang="ko-KR" altLang="en-US" sz="1800" b="1" dirty="0"/>
              <a:t>데이터 로드 및 </a:t>
            </a:r>
            <a:r>
              <a:rPr lang="ko-KR" altLang="en-US" sz="1800" b="1" dirty="0" err="1"/>
              <a:t>전처리</a:t>
            </a:r>
            <a:endParaRPr lang="en-US" altLang="ko-KR" sz="1800" b="1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5A891177-CDA3-8B46-737D-FE37F6F8A9FE}"/>
              </a:ext>
            </a:extLst>
          </p:cNvPr>
          <p:cNvSpPr txBox="1">
            <a:spLocks/>
          </p:cNvSpPr>
          <p:nvPr/>
        </p:nvSpPr>
        <p:spPr>
          <a:xfrm>
            <a:off x="3984169" y="3405250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dirty="0"/>
              <a:t>NORMAL_FILES </a:t>
            </a:r>
            <a:r>
              <a:rPr lang="ko-KR" altLang="en-US" sz="1800" dirty="0"/>
              <a:t>목록 기준으로 </a:t>
            </a:r>
            <a:r>
              <a:rPr lang="en-US" altLang="ko-KR" sz="1800" dirty="0" err="1"/>
              <a:t>wafer_data</a:t>
            </a:r>
            <a:r>
              <a:rPr lang="ko-KR" altLang="en-US" sz="1800" dirty="0"/>
              <a:t>를 불러와 </a:t>
            </a:r>
            <a:r>
              <a:rPr lang="en-US" altLang="ko-KR" sz="1800" dirty="0"/>
              <a:t>roll, pitch, yaw, </a:t>
            </a:r>
            <a:r>
              <a:rPr lang="en-US" altLang="ko-KR" sz="1800" dirty="0" err="1"/>
              <a:t>acc_x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acc_y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acc_z</a:t>
            </a:r>
            <a:r>
              <a:rPr lang="en-US" altLang="ko-KR" sz="1800" dirty="0"/>
              <a:t> </a:t>
            </a:r>
            <a:r>
              <a:rPr lang="ko-KR" altLang="en-US" sz="1800" dirty="0"/>
              <a:t>를 추출</a:t>
            </a:r>
            <a:endParaRPr lang="en-US" altLang="ko-KR" sz="1800" dirty="0"/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857F71BD-AC15-B500-8AB1-D244C746ED2D}"/>
              </a:ext>
            </a:extLst>
          </p:cNvPr>
          <p:cNvSpPr txBox="1">
            <a:spLocks/>
          </p:cNvSpPr>
          <p:nvPr/>
        </p:nvSpPr>
        <p:spPr>
          <a:xfrm>
            <a:off x="589806" y="3989671"/>
            <a:ext cx="2830288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2. </a:t>
            </a:r>
            <a:r>
              <a:rPr lang="ko-KR" altLang="en-US" sz="1800" b="1" dirty="0"/>
              <a:t>데이터 정규화</a:t>
            </a:r>
            <a:endParaRPr lang="en-US" altLang="ko-KR" sz="1800" b="1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6275BD0-728C-8569-9CB5-05A0DD541632}"/>
              </a:ext>
            </a:extLst>
          </p:cNvPr>
          <p:cNvCxnSpPr>
            <a:cxnSpLocks/>
          </p:cNvCxnSpPr>
          <p:nvPr/>
        </p:nvCxnSpPr>
        <p:spPr>
          <a:xfrm>
            <a:off x="672936" y="3868942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511FC984-4589-55FA-9431-F6104F440DE8}"/>
              </a:ext>
            </a:extLst>
          </p:cNvPr>
          <p:cNvSpPr txBox="1">
            <a:spLocks/>
          </p:cNvSpPr>
          <p:nvPr/>
        </p:nvSpPr>
        <p:spPr>
          <a:xfrm>
            <a:off x="3984169" y="3934428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dirty="0"/>
              <a:t>Z-score</a:t>
            </a:r>
            <a:r>
              <a:rPr lang="ko-KR" altLang="en-US" sz="1800" dirty="0"/>
              <a:t> </a:t>
            </a:r>
            <a:r>
              <a:rPr lang="en-US" altLang="ko-KR" sz="1800" dirty="0"/>
              <a:t>Normalization(</a:t>
            </a:r>
            <a:r>
              <a:rPr lang="ko-KR" altLang="en-US" sz="1800" dirty="0"/>
              <a:t>평균 </a:t>
            </a:r>
            <a:r>
              <a:rPr lang="en-US" altLang="ko-KR" sz="1800" dirty="0"/>
              <a:t>0, </a:t>
            </a:r>
            <a:r>
              <a:rPr lang="ko-KR" altLang="en-US" sz="1800" dirty="0"/>
              <a:t>표준 편차 </a:t>
            </a:r>
            <a:r>
              <a:rPr lang="en-US" altLang="ko-KR" sz="1800" dirty="0"/>
              <a:t>1</a:t>
            </a:r>
            <a:r>
              <a:rPr lang="ko-KR" altLang="en-US" sz="1800" dirty="0"/>
              <a:t>로 정규화</a:t>
            </a:r>
            <a:r>
              <a:rPr lang="en-US" altLang="ko-KR" sz="1800" dirty="0"/>
              <a:t>)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0D26FFA-5CC5-7057-26E1-B225D01EFA55}"/>
              </a:ext>
            </a:extLst>
          </p:cNvPr>
          <p:cNvCxnSpPr>
            <a:cxnSpLocks/>
          </p:cNvCxnSpPr>
          <p:nvPr/>
        </p:nvCxnSpPr>
        <p:spPr>
          <a:xfrm>
            <a:off x="672936" y="4413078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88C85EA4-24E5-7B7F-C5CE-E2418DAEB7BB}"/>
              </a:ext>
            </a:extLst>
          </p:cNvPr>
          <p:cNvSpPr txBox="1">
            <a:spLocks/>
          </p:cNvSpPr>
          <p:nvPr/>
        </p:nvSpPr>
        <p:spPr>
          <a:xfrm>
            <a:off x="589806" y="4516149"/>
            <a:ext cx="2830288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3. </a:t>
            </a:r>
            <a:r>
              <a:rPr lang="en-US" altLang="ko-KR" sz="1800" b="1" dirty="0" err="1"/>
              <a:t>DataLoader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구성</a:t>
            </a:r>
            <a:endParaRPr lang="en-US" altLang="ko-KR" sz="1800" b="1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D340175C-1AB4-B225-5522-F63E6737B453}"/>
              </a:ext>
            </a:extLst>
          </p:cNvPr>
          <p:cNvSpPr txBox="1">
            <a:spLocks/>
          </p:cNvSpPr>
          <p:nvPr/>
        </p:nvSpPr>
        <p:spPr>
          <a:xfrm>
            <a:off x="3996044" y="4457107"/>
            <a:ext cx="7618025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dirty="0" err="1"/>
              <a:t>TensorDataset</a:t>
            </a:r>
            <a:r>
              <a:rPr lang="en-US" altLang="ko-KR" sz="1800" dirty="0"/>
              <a:t> </a:t>
            </a:r>
            <a:r>
              <a:rPr lang="ko-KR" altLang="en-US" sz="1800" dirty="0"/>
              <a:t>및 </a:t>
            </a:r>
            <a:r>
              <a:rPr lang="en-US" altLang="ko-KR" sz="1800" dirty="0" err="1"/>
              <a:t>DataLoader</a:t>
            </a:r>
            <a:r>
              <a:rPr lang="ko-KR" altLang="en-US" sz="1800" dirty="0"/>
              <a:t>로 배치 단위 학습 준비</a:t>
            </a:r>
            <a:endParaRPr lang="en-US" altLang="ko-KR" sz="1800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1AD3A8DE-2595-13AE-0532-876BCC1BEAAC}"/>
              </a:ext>
            </a:extLst>
          </p:cNvPr>
          <p:cNvCxnSpPr>
            <a:cxnSpLocks/>
          </p:cNvCxnSpPr>
          <p:nvPr/>
        </p:nvCxnSpPr>
        <p:spPr>
          <a:xfrm>
            <a:off x="672936" y="4990710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4BC86BF-2D67-5931-894B-9A0DEB4873CD}"/>
              </a:ext>
            </a:extLst>
          </p:cNvPr>
          <p:cNvSpPr txBox="1">
            <a:spLocks/>
          </p:cNvSpPr>
          <p:nvPr/>
        </p:nvSpPr>
        <p:spPr>
          <a:xfrm>
            <a:off x="589805" y="5126125"/>
            <a:ext cx="3394363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4. Autoencoder </a:t>
            </a:r>
            <a:r>
              <a:rPr lang="ko-KR" altLang="en-US" sz="1800" b="1" dirty="0"/>
              <a:t>모델 정의</a:t>
            </a:r>
            <a:endParaRPr lang="en-US" altLang="ko-KR" sz="1800" b="1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320CADA7-1B53-6D61-6AF7-D0275C8552E0}"/>
              </a:ext>
            </a:extLst>
          </p:cNvPr>
          <p:cNvSpPr txBox="1">
            <a:spLocks/>
          </p:cNvSpPr>
          <p:nvPr/>
        </p:nvSpPr>
        <p:spPr>
          <a:xfrm>
            <a:off x="3984169" y="5134941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dirty="0"/>
              <a:t>Encoder-Decoder </a:t>
            </a:r>
            <a:r>
              <a:rPr lang="ko-KR" altLang="en-US" sz="1800" dirty="0"/>
              <a:t>구조</a:t>
            </a:r>
            <a:r>
              <a:rPr lang="en-US" altLang="ko-KR" sz="1800" dirty="0"/>
              <a:t>, BatchNorm,</a:t>
            </a:r>
            <a:r>
              <a:rPr lang="ko-KR" altLang="en-US" sz="1800" dirty="0"/>
              <a:t> </a:t>
            </a:r>
            <a:r>
              <a:rPr lang="en-US" altLang="ko-KR" sz="1800" dirty="0" err="1"/>
              <a:t>LeakyReLU</a:t>
            </a:r>
            <a:r>
              <a:rPr lang="en-US" altLang="ko-KR" sz="1800" dirty="0"/>
              <a:t> </a:t>
            </a:r>
            <a:r>
              <a:rPr lang="ko-KR" altLang="en-US" sz="1800" dirty="0"/>
              <a:t>적용</a:t>
            </a:r>
            <a:endParaRPr lang="en-US" altLang="ko-KR" sz="1800" dirty="0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6E6C862-6CCF-618D-C9E1-07BF6FCCC6B1}"/>
              </a:ext>
            </a:extLst>
          </p:cNvPr>
          <p:cNvCxnSpPr>
            <a:cxnSpLocks/>
          </p:cNvCxnSpPr>
          <p:nvPr/>
        </p:nvCxnSpPr>
        <p:spPr>
          <a:xfrm>
            <a:off x="672936" y="5668545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3372A161-E2ED-2FA0-C67E-2A2484BBCCA9}"/>
              </a:ext>
            </a:extLst>
          </p:cNvPr>
          <p:cNvSpPr txBox="1">
            <a:spLocks/>
          </p:cNvSpPr>
          <p:nvPr/>
        </p:nvSpPr>
        <p:spPr>
          <a:xfrm>
            <a:off x="589805" y="5747976"/>
            <a:ext cx="307966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5. </a:t>
            </a:r>
            <a:r>
              <a:rPr lang="ko-KR" altLang="en-US" sz="1800" b="1" dirty="0"/>
              <a:t>손실 함수 및 최적화</a:t>
            </a:r>
            <a:endParaRPr lang="en-US" altLang="ko-KR" sz="1800" b="1" dirty="0"/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361A4E5A-53E9-A664-1BFE-5691315E1135}"/>
              </a:ext>
            </a:extLst>
          </p:cNvPr>
          <p:cNvSpPr txBox="1">
            <a:spLocks/>
          </p:cNvSpPr>
          <p:nvPr/>
        </p:nvSpPr>
        <p:spPr>
          <a:xfrm>
            <a:off x="3996044" y="5772045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dirty="0"/>
              <a:t>L1Loss,</a:t>
            </a:r>
            <a:r>
              <a:rPr lang="ko-KR" altLang="en-US" sz="1800" dirty="0"/>
              <a:t> </a:t>
            </a:r>
            <a:r>
              <a:rPr lang="en-US" altLang="ko-KR" sz="1800" dirty="0" err="1"/>
              <a:t>AdamW</a:t>
            </a:r>
            <a:r>
              <a:rPr lang="ko-KR" altLang="en-US" sz="1800" dirty="0"/>
              <a:t> </a:t>
            </a:r>
            <a:r>
              <a:rPr lang="en-US" altLang="ko-KR" sz="1800" dirty="0"/>
              <a:t>Optimizer(</a:t>
            </a:r>
            <a:r>
              <a:rPr lang="en-US" altLang="ko-KR" sz="1800" dirty="0" err="1"/>
              <a:t>weight_decay</a:t>
            </a:r>
            <a:r>
              <a:rPr lang="ko-KR" altLang="en-US" sz="1800" dirty="0"/>
              <a:t> 적용</a:t>
            </a:r>
            <a:r>
              <a:rPr lang="en-US" altLang="ko-KR" sz="1800" dirty="0"/>
              <a:t>)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77025E4-CC0A-D9EA-34E1-074F17BA70A3}"/>
              </a:ext>
            </a:extLst>
          </p:cNvPr>
          <p:cNvCxnSpPr>
            <a:cxnSpLocks/>
          </p:cNvCxnSpPr>
          <p:nvPr/>
        </p:nvCxnSpPr>
        <p:spPr>
          <a:xfrm>
            <a:off x="661060" y="6186896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515487FF-FD1D-1A67-2952-46063A2E71C7}"/>
              </a:ext>
            </a:extLst>
          </p:cNvPr>
          <p:cNvSpPr txBox="1">
            <a:spLocks/>
          </p:cNvSpPr>
          <p:nvPr/>
        </p:nvSpPr>
        <p:spPr>
          <a:xfrm>
            <a:off x="577929" y="6266327"/>
            <a:ext cx="3697188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6. </a:t>
            </a:r>
            <a:r>
              <a:rPr lang="en-US" altLang="ko-KR" sz="1800" b="1" dirty="0" err="1"/>
              <a:t>EarlyStopping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적용</a:t>
            </a:r>
            <a:endParaRPr lang="en-US" altLang="ko-KR" sz="1800" b="1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3DF67BD3-045D-E83A-80A9-C8033A542A2F}"/>
              </a:ext>
            </a:extLst>
          </p:cNvPr>
          <p:cNvSpPr txBox="1">
            <a:spLocks/>
          </p:cNvSpPr>
          <p:nvPr/>
        </p:nvSpPr>
        <p:spPr>
          <a:xfrm>
            <a:off x="3984168" y="6290396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dirty="0"/>
              <a:t>개선</a:t>
            </a:r>
            <a:r>
              <a:rPr lang="en-US" altLang="ko-KR" sz="1800" dirty="0"/>
              <a:t> </a:t>
            </a:r>
            <a:r>
              <a:rPr lang="ko-KR" altLang="en-US" sz="1800" dirty="0"/>
              <a:t>되지 않을 경우 조기 종료 </a:t>
            </a:r>
            <a:r>
              <a:rPr lang="en-US" altLang="ko-KR" sz="1800" dirty="0"/>
              <a:t>(patience = 10)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5AB2F6C-C20D-4FEA-DE68-D04F3477026E}"/>
              </a:ext>
            </a:extLst>
          </p:cNvPr>
          <p:cNvSpPr/>
          <p:nvPr/>
        </p:nvSpPr>
        <p:spPr>
          <a:xfrm>
            <a:off x="10153403" y="1464423"/>
            <a:ext cx="496786" cy="2751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E7AB602-E53B-25E2-FAA0-B446E0115D1C}"/>
              </a:ext>
            </a:extLst>
          </p:cNvPr>
          <p:cNvSpPr/>
          <p:nvPr/>
        </p:nvSpPr>
        <p:spPr>
          <a:xfrm>
            <a:off x="672936" y="1508167"/>
            <a:ext cx="1322119" cy="2076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ADA8B9D-5657-BA75-3C32-5CAB7EA08B78}"/>
              </a:ext>
            </a:extLst>
          </p:cNvPr>
          <p:cNvSpPr txBox="1">
            <a:spLocks/>
          </p:cNvSpPr>
          <p:nvPr/>
        </p:nvSpPr>
        <p:spPr>
          <a:xfrm>
            <a:off x="447303" y="1460665"/>
            <a:ext cx="10774879" cy="11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 err="1"/>
              <a:t>wafer_data</a:t>
            </a:r>
            <a:r>
              <a:rPr lang="en-US" altLang="ko-KR" sz="1800" dirty="0"/>
              <a:t>/ </a:t>
            </a:r>
            <a:r>
              <a:rPr lang="ko-KR" altLang="en-US" sz="1800" dirty="0"/>
              <a:t>내 </a:t>
            </a:r>
            <a:r>
              <a:rPr lang="ko-KR" altLang="en-US" sz="1800" b="1" dirty="0"/>
              <a:t>정상 상태 데이터 파일을 기반으로 </a:t>
            </a:r>
            <a:r>
              <a:rPr lang="en-US" altLang="ko-KR" sz="1800" b="1" dirty="0"/>
              <a:t>Autoencoder</a:t>
            </a:r>
            <a:r>
              <a:rPr lang="ko-KR" altLang="en-US" sz="1800" b="1" dirty="0"/>
              <a:t>를 학습</a:t>
            </a:r>
            <a:r>
              <a:rPr lang="ko-KR" altLang="en-US" sz="1800" dirty="0"/>
              <a:t>하고 학습된 모델을 </a:t>
            </a:r>
            <a:r>
              <a:rPr lang="en-US" altLang="ko-KR" sz="1800" dirty="0"/>
              <a:t>.</a:t>
            </a:r>
            <a:r>
              <a:rPr lang="en-US" altLang="ko-KR" sz="1800" dirty="0" err="1"/>
              <a:t>pth</a:t>
            </a:r>
            <a:r>
              <a:rPr lang="ko-KR" altLang="en-US" sz="1800" dirty="0"/>
              <a:t> 파일로 저장하며</a:t>
            </a:r>
            <a:r>
              <a:rPr lang="en-US" altLang="ko-KR" sz="1800" dirty="0"/>
              <a:t>, </a:t>
            </a:r>
            <a:r>
              <a:rPr lang="ko-KR" altLang="en-US" sz="1800" dirty="0"/>
              <a:t>학습 </a:t>
            </a:r>
            <a:r>
              <a:rPr lang="en-US" altLang="ko-KR" sz="1800" dirty="0"/>
              <a:t>Loss </a:t>
            </a:r>
            <a:r>
              <a:rPr lang="ko-KR" altLang="en-US" sz="1800" dirty="0"/>
              <a:t>시각화 및 결과를 파일로 출력</a:t>
            </a:r>
            <a:endParaRPr lang="en-US" altLang="ko-KR" sz="1800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161D98C-19F6-BA44-8409-D59BE69C87DE}"/>
              </a:ext>
            </a:extLst>
          </p:cNvPr>
          <p:cNvSpPr/>
          <p:nvPr/>
        </p:nvSpPr>
        <p:spPr>
          <a:xfrm>
            <a:off x="1805046" y="1045884"/>
            <a:ext cx="1983184" cy="3426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739E3D37-0462-FB4E-6A64-CFE6186B4A77}"/>
              </a:ext>
            </a:extLst>
          </p:cNvPr>
          <p:cNvSpPr txBox="1">
            <a:spLocks/>
          </p:cNvSpPr>
          <p:nvPr/>
        </p:nvSpPr>
        <p:spPr>
          <a:xfrm>
            <a:off x="220683" y="1021279"/>
            <a:ext cx="6227618" cy="436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모델 학습 </a:t>
            </a:r>
            <a:r>
              <a:rPr lang="en-US" altLang="ko-KR" sz="2000" dirty="0"/>
              <a:t>train_autoenc.py</a:t>
            </a:r>
          </a:p>
        </p:txBody>
      </p:sp>
    </p:spTree>
    <p:extLst>
      <p:ext uri="{BB962C8B-B14F-4D97-AF65-F5344CB8AC3E}">
        <p14:creationId xmlns:p14="http://schemas.microsoft.com/office/powerpoint/2010/main" val="1460618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7D36C-7271-6DDB-F70A-85263EF38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1F97B68-9705-8156-7BC4-69EA471578C4}"/>
              </a:ext>
            </a:extLst>
          </p:cNvPr>
          <p:cNvSpPr/>
          <p:nvPr/>
        </p:nvSpPr>
        <p:spPr>
          <a:xfrm>
            <a:off x="4040578" y="3927950"/>
            <a:ext cx="3880264" cy="34971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507E127-C28B-95B3-9A88-FF2A5D3B654E}"/>
              </a:ext>
            </a:extLst>
          </p:cNvPr>
          <p:cNvSpPr/>
          <p:nvPr/>
        </p:nvSpPr>
        <p:spPr>
          <a:xfrm>
            <a:off x="4052453" y="5131456"/>
            <a:ext cx="1908960" cy="33381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2DE0-2B1B-7E24-AC76-B10A67EE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주요 스크립트 사용법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9A2AD7F-E5C0-A696-4D35-9578F45C8726}"/>
              </a:ext>
            </a:extLst>
          </p:cNvPr>
          <p:cNvSpPr txBox="1">
            <a:spLocks/>
          </p:cNvSpPr>
          <p:nvPr/>
        </p:nvSpPr>
        <p:spPr>
          <a:xfrm>
            <a:off x="220683" y="2360658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코드 동작 방식</a:t>
            </a:r>
            <a:endParaRPr lang="en-US" altLang="ko-KR" sz="2000" b="1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9B6BE3E-6B1C-CACD-6FFF-A8138522D540}"/>
              </a:ext>
            </a:extLst>
          </p:cNvPr>
          <p:cNvSpPr txBox="1">
            <a:spLocks/>
          </p:cNvSpPr>
          <p:nvPr/>
        </p:nvSpPr>
        <p:spPr>
          <a:xfrm>
            <a:off x="589807" y="2886580"/>
            <a:ext cx="185749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b="1" dirty="0"/>
              <a:t>단계</a:t>
            </a:r>
            <a:endParaRPr lang="en-US" altLang="ko-KR" sz="1800" b="1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32ED3864-5479-87DA-1600-2A166A780759}"/>
              </a:ext>
            </a:extLst>
          </p:cNvPr>
          <p:cNvSpPr txBox="1">
            <a:spLocks/>
          </p:cNvSpPr>
          <p:nvPr/>
        </p:nvSpPr>
        <p:spPr>
          <a:xfrm>
            <a:off x="3984170" y="2886580"/>
            <a:ext cx="185749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b="1"/>
              <a:t>설명</a:t>
            </a:r>
            <a:endParaRPr lang="en-US" altLang="ko-KR" sz="1800" b="1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DE93CF4-0D70-59BA-F071-9F9328496357}"/>
              </a:ext>
            </a:extLst>
          </p:cNvPr>
          <p:cNvCxnSpPr>
            <a:cxnSpLocks/>
          </p:cNvCxnSpPr>
          <p:nvPr/>
        </p:nvCxnSpPr>
        <p:spPr>
          <a:xfrm>
            <a:off x="672936" y="3313216"/>
            <a:ext cx="1060862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116BB71C-9C5C-E73A-E44C-E9AB2D5207F2}"/>
              </a:ext>
            </a:extLst>
          </p:cNvPr>
          <p:cNvSpPr txBox="1">
            <a:spLocks/>
          </p:cNvSpPr>
          <p:nvPr/>
        </p:nvSpPr>
        <p:spPr>
          <a:xfrm>
            <a:off x="589806" y="3444893"/>
            <a:ext cx="292528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7. </a:t>
            </a:r>
            <a:r>
              <a:rPr lang="ko-KR" altLang="en-US" sz="1800" b="1" dirty="0"/>
              <a:t>학습 루프</a:t>
            </a:r>
            <a:endParaRPr lang="en-US" altLang="ko-KR" sz="1800" b="1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95AC2CFB-1645-2788-D938-DC5E92A9613A}"/>
              </a:ext>
            </a:extLst>
          </p:cNvPr>
          <p:cNvSpPr txBox="1">
            <a:spLocks/>
          </p:cNvSpPr>
          <p:nvPr/>
        </p:nvSpPr>
        <p:spPr>
          <a:xfrm>
            <a:off x="3984169" y="3405250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dirty="0" err="1"/>
              <a:t>에포크</a:t>
            </a:r>
            <a:r>
              <a:rPr lang="ko-KR" altLang="en-US" sz="1800" dirty="0"/>
              <a:t> 별 </a:t>
            </a:r>
            <a:r>
              <a:rPr lang="en-US" altLang="ko-KR" sz="1800" dirty="0"/>
              <a:t>Loss </a:t>
            </a:r>
            <a:r>
              <a:rPr lang="ko-KR" altLang="en-US" sz="1800" dirty="0"/>
              <a:t>계산 및 출력</a:t>
            </a:r>
            <a:endParaRPr lang="en-US" altLang="ko-KR" sz="1800" dirty="0"/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C3620DE8-D4B6-AB5C-11C0-F44152A9F406}"/>
              </a:ext>
            </a:extLst>
          </p:cNvPr>
          <p:cNvSpPr txBox="1">
            <a:spLocks/>
          </p:cNvSpPr>
          <p:nvPr/>
        </p:nvSpPr>
        <p:spPr>
          <a:xfrm>
            <a:off x="589806" y="3989671"/>
            <a:ext cx="2830288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8. </a:t>
            </a:r>
            <a:r>
              <a:rPr lang="ko-KR" altLang="en-US" sz="1800" b="1" dirty="0"/>
              <a:t>모델 저장</a:t>
            </a:r>
            <a:endParaRPr lang="en-US" altLang="ko-KR" sz="1800" b="1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CFDE5A9-13B0-85EF-D258-E4408B7B0C38}"/>
              </a:ext>
            </a:extLst>
          </p:cNvPr>
          <p:cNvCxnSpPr>
            <a:cxnSpLocks/>
          </p:cNvCxnSpPr>
          <p:nvPr/>
        </p:nvCxnSpPr>
        <p:spPr>
          <a:xfrm>
            <a:off x="672936" y="3868942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3C8FE3F0-3D7E-78C6-EB25-7281DEBC77DC}"/>
              </a:ext>
            </a:extLst>
          </p:cNvPr>
          <p:cNvSpPr txBox="1">
            <a:spLocks/>
          </p:cNvSpPr>
          <p:nvPr/>
        </p:nvSpPr>
        <p:spPr>
          <a:xfrm>
            <a:off x="3984169" y="3934428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dirty="0"/>
              <a:t>/workspace/</a:t>
            </a:r>
            <a:r>
              <a:rPr lang="en-US" altLang="ko-KR" sz="1800" dirty="0" err="1"/>
              <a:t>src</a:t>
            </a:r>
            <a:r>
              <a:rPr lang="en-US" altLang="ko-KR" sz="1800" dirty="0"/>
              <a:t>/</a:t>
            </a:r>
            <a:r>
              <a:rPr lang="en-US" altLang="ko-KR" sz="1800" dirty="0" err="1"/>
              <a:t>autoencoder_test.pth</a:t>
            </a:r>
            <a:r>
              <a:rPr lang="en-US" altLang="ko-KR" sz="1800" dirty="0"/>
              <a:t> </a:t>
            </a:r>
            <a:r>
              <a:rPr lang="ko-KR" altLang="en-US" sz="1800" dirty="0"/>
              <a:t>경로에 저장</a:t>
            </a:r>
            <a:endParaRPr lang="en-US" altLang="ko-KR" sz="1800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34D4432-40B4-34DB-E436-2AA6DBF91EB4}"/>
              </a:ext>
            </a:extLst>
          </p:cNvPr>
          <p:cNvCxnSpPr>
            <a:cxnSpLocks/>
          </p:cNvCxnSpPr>
          <p:nvPr/>
        </p:nvCxnSpPr>
        <p:spPr>
          <a:xfrm>
            <a:off x="672936" y="4413078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E1895CA0-3D76-3DFE-01DC-BACD6D595D5F}"/>
              </a:ext>
            </a:extLst>
          </p:cNvPr>
          <p:cNvSpPr txBox="1">
            <a:spLocks/>
          </p:cNvSpPr>
          <p:nvPr/>
        </p:nvSpPr>
        <p:spPr>
          <a:xfrm>
            <a:off x="589806" y="4516149"/>
            <a:ext cx="2830288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9. </a:t>
            </a:r>
            <a:r>
              <a:rPr lang="ko-KR" altLang="en-US" sz="1800" b="1" dirty="0"/>
              <a:t>재구성 오류 평가</a:t>
            </a:r>
            <a:endParaRPr lang="en-US" altLang="ko-KR" sz="1800" b="1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04C66666-2A05-74CD-74BF-0A6DE5ACD27D}"/>
              </a:ext>
            </a:extLst>
          </p:cNvPr>
          <p:cNvSpPr txBox="1">
            <a:spLocks/>
          </p:cNvSpPr>
          <p:nvPr/>
        </p:nvSpPr>
        <p:spPr>
          <a:xfrm>
            <a:off x="3996044" y="4457107"/>
            <a:ext cx="7618025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dirty="0"/>
              <a:t>학습 데이터에 대한 최종 </a:t>
            </a:r>
            <a:r>
              <a:rPr lang="en-US" altLang="ko-KR" sz="1800" dirty="0"/>
              <a:t>Reconstruction Loss </a:t>
            </a:r>
            <a:r>
              <a:rPr lang="ko-KR" altLang="en-US" sz="1800" dirty="0"/>
              <a:t>계산</a:t>
            </a:r>
            <a:endParaRPr lang="en-US" altLang="ko-KR" sz="1800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914B3C7-21C9-2377-BE6B-B50F7650B929}"/>
              </a:ext>
            </a:extLst>
          </p:cNvPr>
          <p:cNvCxnSpPr>
            <a:cxnSpLocks/>
          </p:cNvCxnSpPr>
          <p:nvPr/>
        </p:nvCxnSpPr>
        <p:spPr>
          <a:xfrm>
            <a:off x="672936" y="4990710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D9972F0D-61DA-9B1F-B184-A24EDFA4F3EF}"/>
              </a:ext>
            </a:extLst>
          </p:cNvPr>
          <p:cNvSpPr txBox="1">
            <a:spLocks/>
          </p:cNvSpPr>
          <p:nvPr/>
        </p:nvSpPr>
        <p:spPr>
          <a:xfrm>
            <a:off x="589805" y="5126125"/>
            <a:ext cx="3394363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10. Loss </a:t>
            </a:r>
            <a:r>
              <a:rPr lang="ko-KR" altLang="en-US" sz="1800" b="1" dirty="0"/>
              <a:t>그래프 저장</a:t>
            </a:r>
            <a:endParaRPr lang="en-US" altLang="ko-KR" sz="1800" b="1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685840D9-E7CB-92BA-710B-8933C5D9C283}"/>
              </a:ext>
            </a:extLst>
          </p:cNvPr>
          <p:cNvSpPr txBox="1">
            <a:spLocks/>
          </p:cNvSpPr>
          <p:nvPr/>
        </p:nvSpPr>
        <p:spPr>
          <a:xfrm>
            <a:off x="3984169" y="5134941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dirty="0"/>
              <a:t>tranining_loss.png </a:t>
            </a:r>
            <a:r>
              <a:rPr lang="ko-KR" altLang="en-US" sz="1800" dirty="0"/>
              <a:t>파일로 저장 및 시각화</a:t>
            </a:r>
            <a:endParaRPr lang="en-US" altLang="ko-KR" sz="1800" dirty="0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E354F28-D017-8A1B-B395-B1617807CBE0}"/>
              </a:ext>
            </a:extLst>
          </p:cNvPr>
          <p:cNvCxnSpPr>
            <a:cxnSpLocks/>
          </p:cNvCxnSpPr>
          <p:nvPr/>
        </p:nvCxnSpPr>
        <p:spPr>
          <a:xfrm>
            <a:off x="672936" y="5668545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818EAFC-3F62-6B7D-82A6-329900B80ED8}"/>
              </a:ext>
            </a:extLst>
          </p:cNvPr>
          <p:cNvSpPr/>
          <p:nvPr/>
        </p:nvSpPr>
        <p:spPr>
          <a:xfrm>
            <a:off x="10153403" y="1464423"/>
            <a:ext cx="496786" cy="2751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082EA1F-A0CC-A7B2-62F9-2E96D473BB03}"/>
              </a:ext>
            </a:extLst>
          </p:cNvPr>
          <p:cNvSpPr/>
          <p:nvPr/>
        </p:nvSpPr>
        <p:spPr>
          <a:xfrm>
            <a:off x="672936" y="1508167"/>
            <a:ext cx="1322119" cy="2076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C97338C-3A5C-3AF5-04F3-7F14A4544655}"/>
              </a:ext>
            </a:extLst>
          </p:cNvPr>
          <p:cNvSpPr txBox="1">
            <a:spLocks/>
          </p:cNvSpPr>
          <p:nvPr/>
        </p:nvSpPr>
        <p:spPr>
          <a:xfrm>
            <a:off x="447303" y="1460665"/>
            <a:ext cx="10774879" cy="11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 err="1"/>
              <a:t>wafer_data</a:t>
            </a:r>
            <a:r>
              <a:rPr lang="en-US" altLang="ko-KR" sz="1800" dirty="0"/>
              <a:t>/ </a:t>
            </a:r>
            <a:r>
              <a:rPr lang="ko-KR" altLang="en-US" sz="1800" dirty="0"/>
              <a:t>내 </a:t>
            </a:r>
            <a:r>
              <a:rPr lang="ko-KR" altLang="en-US" sz="1800" b="1" dirty="0"/>
              <a:t>정상 상태 데이터 파일을 기반으로 </a:t>
            </a:r>
            <a:r>
              <a:rPr lang="en-US" altLang="ko-KR" sz="1800" b="1" dirty="0"/>
              <a:t>Autoencoder</a:t>
            </a:r>
            <a:r>
              <a:rPr lang="ko-KR" altLang="en-US" sz="1800" b="1" dirty="0"/>
              <a:t>를 학습</a:t>
            </a:r>
            <a:r>
              <a:rPr lang="ko-KR" altLang="en-US" sz="1800" dirty="0"/>
              <a:t>하고 학습된 모델을 </a:t>
            </a:r>
            <a:r>
              <a:rPr lang="en-US" altLang="ko-KR" sz="1800" dirty="0"/>
              <a:t>.</a:t>
            </a:r>
            <a:r>
              <a:rPr lang="en-US" altLang="ko-KR" sz="1800" dirty="0" err="1"/>
              <a:t>pth</a:t>
            </a:r>
            <a:r>
              <a:rPr lang="ko-KR" altLang="en-US" sz="1800" dirty="0"/>
              <a:t> 파일로 저장하며</a:t>
            </a:r>
            <a:r>
              <a:rPr lang="en-US" altLang="ko-KR" sz="1800" dirty="0"/>
              <a:t>, </a:t>
            </a:r>
            <a:r>
              <a:rPr lang="ko-KR" altLang="en-US" sz="1800" dirty="0"/>
              <a:t>학습 </a:t>
            </a:r>
            <a:r>
              <a:rPr lang="en-US" altLang="ko-KR" sz="1800" dirty="0"/>
              <a:t>Loss </a:t>
            </a:r>
            <a:r>
              <a:rPr lang="ko-KR" altLang="en-US" sz="1800" dirty="0"/>
              <a:t>시각화 및 결과를 파일로 출력</a:t>
            </a:r>
            <a:endParaRPr lang="en-US" altLang="ko-KR" sz="1800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26A0598-4B9D-B7C1-1950-50488BC456E1}"/>
              </a:ext>
            </a:extLst>
          </p:cNvPr>
          <p:cNvSpPr/>
          <p:nvPr/>
        </p:nvSpPr>
        <p:spPr>
          <a:xfrm>
            <a:off x="1805046" y="1045884"/>
            <a:ext cx="1983184" cy="3426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A417C208-19F0-457F-A275-A490690B0D46}"/>
              </a:ext>
            </a:extLst>
          </p:cNvPr>
          <p:cNvSpPr txBox="1">
            <a:spLocks/>
          </p:cNvSpPr>
          <p:nvPr/>
        </p:nvSpPr>
        <p:spPr>
          <a:xfrm>
            <a:off x="220683" y="1021279"/>
            <a:ext cx="6227618" cy="436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모델 학습 </a:t>
            </a:r>
            <a:r>
              <a:rPr lang="en-US" altLang="ko-KR" sz="2000" dirty="0"/>
              <a:t>train_autoenc.py</a:t>
            </a:r>
          </a:p>
        </p:txBody>
      </p:sp>
    </p:spTree>
    <p:extLst>
      <p:ext uri="{BB962C8B-B14F-4D97-AF65-F5344CB8AC3E}">
        <p14:creationId xmlns:p14="http://schemas.microsoft.com/office/powerpoint/2010/main" val="1291769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AB4CB-3289-4B1C-8902-A8DF9B27D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7553725-8E2C-E932-3B6C-B03B3C2F02DA}"/>
              </a:ext>
            </a:extLst>
          </p:cNvPr>
          <p:cNvSpPr/>
          <p:nvPr/>
        </p:nvSpPr>
        <p:spPr>
          <a:xfrm>
            <a:off x="3458683" y="5990275"/>
            <a:ext cx="1671457" cy="36302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1918005-EB1D-A8BE-9FE2-B500A4BC08F4}"/>
              </a:ext>
            </a:extLst>
          </p:cNvPr>
          <p:cNvSpPr/>
          <p:nvPr/>
        </p:nvSpPr>
        <p:spPr>
          <a:xfrm>
            <a:off x="813454" y="5990275"/>
            <a:ext cx="1894120" cy="36302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EFD5A55-938B-CC77-26B5-9EB8A65DB0D5}"/>
              </a:ext>
            </a:extLst>
          </p:cNvPr>
          <p:cNvSpPr/>
          <p:nvPr/>
        </p:nvSpPr>
        <p:spPr>
          <a:xfrm>
            <a:off x="10153403" y="1464423"/>
            <a:ext cx="496786" cy="2751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56D7DC5-3D84-07F9-BE58-78F1DFDEECEE}"/>
              </a:ext>
            </a:extLst>
          </p:cNvPr>
          <p:cNvSpPr/>
          <p:nvPr/>
        </p:nvSpPr>
        <p:spPr>
          <a:xfrm>
            <a:off x="672936" y="1508167"/>
            <a:ext cx="1322119" cy="2076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DAF922A-2366-CFA8-3AC5-1B162261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주요 스크립트 사용법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70FCC13-0E59-10E9-8933-8FD8D12862D1}"/>
              </a:ext>
            </a:extLst>
          </p:cNvPr>
          <p:cNvGrpSpPr/>
          <p:nvPr/>
        </p:nvGrpSpPr>
        <p:grpSpPr>
          <a:xfrm>
            <a:off x="554676" y="2674477"/>
            <a:ext cx="10335491" cy="3167745"/>
            <a:chOff x="773380" y="2339438"/>
            <a:chExt cx="10335491" cy="3167745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C8D7092C-AB8D-FD93-2257-15936F5ECF04}"/>
                </a:ext>
              </a:extLst>
            </p:cNvPr>
            <p:cNvSpPr/>
            <p:nvPr/>
          </p:nvSpPr>
          <p:spPr>
            <a:xfrm>
              <a:off x="773380" y="2339438"/>
              <a:ext cx="10335491" cy="3167745"/>
            </a:xfrm>
            <a:prstGeom prst="roundRect">
              <a:avLst>
                <a:gd name="adj" fmla="val 580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9F15D9F-E4E9-5E67-751D-67D2F3492180}"/>
                </a:ext>
              </a:extLst>
            </p:cNvPr>
            <p:cNvSpPr txBox="1"/>
            <p:nvPr/>
          </p:nvSpPr>
          <p:spPr>
            <a:xfrm>
              <a:off x="867889" y="2367862"/>
              <a:ext cx="8589817" cy="31393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dirty="0"/>
                <a:t>데이터 로드 완료</a:t>
              </a:r>
              <a:r>
                <a:rPr lang="en-US" altLang="ko-KR" dirty="0"/>
                <a:t>! </a:t>
              </a:r>
              <a:r>
                <a:rPr lang="ko-KR" altLang="en-US" dirty="0"/>
                <a:t>데이터 크기</a:t>
              </a:r>
              <a:r>
                <a:rPr lang="en-US" altLang="ko-KR" dirty="0"/>
                <a:t>: (4000, 6)</a:t>
              </a:r>
            </a:p>
            <a:p>
              <a:endParaRPr lang="en-US" altLang="ko-KR" dirty="0"/>
            </a:p>
            <a:p>
              <a:r>
                <a:rPr lang="en-US" altLang="ko-KR" dirty="0"/>
                <a:t>Epoch [1/100], Loss: 0.5234</a:t>
              </a:r>
            </a:p>
            <a:p>
              <a:r>
                <a:rPr lang="en-US" altLang="ko-KR" dirty="0"/>
                <a:t>Epoch [2/100], Loss: 0.4211</a:t>
              </a:r>
            </a:p>
            <a:p>
              <a:r>
                <a:rPr lang="en-US" altLang="ko-KR" dirty="0"/>
                <a:t>...</a:t>
              </a:r>
            </a:p>
            <a:p>
              <a:r>
                <a:rPr lang="en-US" altLang="ko-KR" dirty="0"/>
                <a:t>Epoch [15/100], Loss: 0.0217</a:t>
              </a:r>
            </a:p>
            <a:p>
              <a:r>
                <a:rPr lang="en-US" altLang="ko-KR" dirty="0"/>
                <a:t>Early Stopping Triggered at Epoch 15</a:t>
              </a:r>
            </a:p>
            <a:p>
              <a:endParaRPr lang="en-US" altLang="ko-KR" dirty="0"/>
            </a:p>
            <a:p>
              <a:r>
                <a:rPr lang="en-US" altLang="ko-KR" dirty="0"/>
                <a:t>Training Complete and Model Saved at /workspace/</a:t>
              </a:r>
              <a:r>
                <a:rPr lang="en-US" altLang="ko-KR" dirty="0" err="1"/>
                <a:t>src</a:t>
              </a:r>
              <a:r>
                <a:rPr lang="en-US" altLang="ko-KR" dirty="0"/>
                <a:t>/</a:t>
              </a:r>
              <a:r>
                <a:rPr lang="en-US" altLang="ko-KR" dirty="0" err="1"/>
                <a:t>autoencoder_test.pth</a:t>
              </a:r>
              <a:endParaRPr lang="en-US" altLang="ko-KR" dirty="0"/>
            </a:p>
            <a:p>
              <a:endParaRPr lang="en-US" altLang="ko-KR" dirty="0"/>
            </a:p>
            <a:p>
              <a:r>
                <a:rPr lang="en-US" altLang="ko-KR" dirty="0"/>
                <a:t>Reconstruction Loss on Training Data: 0.0184</a:t>
              </a:r>
            </a:p>
          </p:txBody>
        </p:sp>
      </p:grp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DAE46C97-7895-3BED-A9A1-85D21DE3B0D2}"/>
              </a:ext>
            </a:extLst>
          </p:cNvPr>
          <p:cNvSpPr txBox="1">
            <a:spLocks/>
          </p:cNvSpPr>
          <p:nvPr/>
        </p:nvSpPr>
        <p:spPr>
          <a:xfrm>
            <a:off x="447303" y="1460665"/>
            <a:ext cx="10774879" cy="11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 err="1"/>
              <a:t>wafer_data</a:t>
            </a:r>
            <a:r>
              <a:rPr lang="en-US" altLang="ko-KR" sz="1800" dirty="0"/>
              <a:t>/ </a:t>
            </a:r>
            <a:r>
              <a:rPr lang="ko-KR" altLang="en-US" sz="1800" dirty="0"/>
              <a:t>내 </a:t>
            </a:r>
            <a:r>
              <a:rPr lang="ko-KR" altLang="en-US" sz="1800" b="1" dirty="0"/>
              <a:t>정상 상태 데이터 파일을 기반으로 </a:t>
            </a:r>
            <a:r>
              <a:rPr lang="en-US" altLang="ko-KR" sz="1800" b="1" dirty="0"/>
              <a:t>Autoencoder</a:t>
            </a:r>
            <a:r>
              <a:rPr lang="ko-KR" altLang="en-US" sz="1800" b="1" dirty="0"/>
              <a:t>를 학습</a:t>
            </a:r>
            <a:r>
              <a:rPr lang="ko-KR" altLang="en-US" sz="1800" dirty="0"/>
              <a:t>하고 학습된 모델을 </a:t>
            </a:r>
            <a:r>
              <a:rPr lang="en-US" altLang="ko-KR" sz="1800" dirty="0"/>
              <a:t>.</a:t>
            </a:r>
            <a:r>
              <a:rPr lang="en-US" altLang="ko-KR" sz="1800" dirty="0" err="1"/>
              <a:t>pth</a:t>
            </a:r>
            <a:r>
              <a:rPr lang="ko-KR" altLang="en-US" sz="1800" dirty="0"/>
              <a:t> 파일로 저장하며</a:t>
            </a:r>
            <a:r>
              <a:rPr lang="en-US" altLang="ko-KR" sz="1800" dirty="0"/>
              <a:t>, </a:t>
            </a:r>
            <a:r>
              <a:rPr lang="ko-KR" altLang="en-US" sz="1800" dirty="0"/>
              <a:t>학습 </a:t>
            </a:r>
            <a:r>
              <a:rPr lang="en-US" altLang="ko-KR" sz="1800" dirty="0"/>
              <a:t>Loss </a:t>
            </a:r>
            <a:r>
              <a:rPr lang="ko-KR" altLang="en-US" sz="1800" dirty="0"/>
              <a:t>시각화 및 결과를 파일로 출력</a:t>
            </a:r>
            <a:endParaRPr lang="en-US" altLang="ko-KR" sz="180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D52A5295-7449-BC73-D97F-0675F0C33CC6}"/>
              </a:ext>
            </a:extLst>
          </p:cNvPr>
          <p:cNvSpPr txBox="1">
            <a:spLocks/>
          </p:cNvSpPr>
          <p:nvPr/>
        </p:nvSpPr>
        <p:spPr>
          <a:xfrm>
            <a:off x="220683" y="2235090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출력 예시</a:t>
            </a:r>
            <a:endParaRPr lang="en-US" altLang="ko-KR" sz="20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1729BB4-7FB9-2142-248A-3E0BD239E3B6}"/>
              </a:ext>
            </a:extLst>
          </p:cNvPr>
          <p:cNvSpPr/>
          <p:nvPr/>
        </p:nvSpPr>
        <p:spPr>
          <a:xfrm>
            <a:off x="1805046" y="1045884"/>
            <a:ext cx="1983184" cy="3426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178DD678-D2CA-4909-A5C6-3788BCB313DE}"/>
              </a:ext>
            </a:extLst>
          </p:cNvPr>
          <p:cNvSpPr txBox="1">
            <a:spLocks/>
          </p:cNvSpPr>
          <p:nvPr/>
        </p:nvSpPr>
        <p:spPr>
          <a:xfrm>
            <a:off x="220683" y="1021279"/>
            <a:ext cx="6227618" cy="436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모델 학습 </a:t>
            </a:r>
            <a:r>
              <a:rPr lang="en-US" altLang="ko-KR" sz="2000" dirty="0"/>
              <a:t>train_autoenc.py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79C8A0D-31F8-7C84-F907-402E6BB24880}"/>
              </a:ext>
            </a:extLst>
          </p:cNvPr>
          <p:cNvSpPr txBox="1">
            <a:spLocks/>
          </p:cNvSpPr>
          <p:nvPr/>
        </p:nvSpPr>
        <p:spPr>
          <a:xfrm>
            <a:off x="554676" y="5990276"/>
            <a:ext cx="10774879" cy="11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/>
              <a:t>Training_loss.png </a:t>
            </a:r>
            <a:r>
              <a:rPr lang="ko-KR" altLang="en-US" sz="1800" dirty="0"/>
              <a:t>파일이 </a:t>
            </a:r>
            <a:r>
              <a:rPr lang="en-US" altLang="ko-KR" sz="1800" dirty="0"/>
              <a:t>/workspace/</a:t>
            </a:r>
            <a:r>
              <a:rPr lang="en-US" altLang="ko-KR" sz="1800" dirty="0" err="1"/>
              <a:t>src</a:t>
            </a:r>
            <a:r>
              <a:rPr lang="en-US" altLang="ko-KR" sz="1800" dirty="0"/>
              <a:t>/ </a:t>
            </a:r>
            <a:r>
              <a:rPr lang="ko-KR" altLang="en-US" sz="1800" dirty="0"/>
              <a:t>경로에 생성됨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083465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87E99-63F0-1C03-0F01-6CFE9AAD2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A1C43B-AABB-B477-C5C7-8563537B4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주요 스크립트 사용법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F3926D5-34FD-53A8-08A4-76A9D6FDF971}"/>
              </a:ext>
            </a:extLst>
          </p:cNvPr>
          <p:cNvSpPr txBox="1">
            <a:spLocks/>
          </p:cNvSpPr>
          <p:nvPr/>
        </p:nvSpPr>
        <p:spPr>
          <a:xfrm>
            <a:off x="220683" y="2562534"/>
            <a:ext cx="6785759" cy="426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실행 방법 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로컬 기준</a:t>
            </a:r>
            <a:r>
              <a:rPr lang="en-US" altLang="ko-KR" sz="2000" b="1" dirty="0"/>
              <a:t>) </a:t>
            </a:r>
            <a:r>
              <a:rPr lang="en-US" altLang="ko-KR" sz="2000" dirty="0"/>
              <a:t>← Docker </a:t>
            </a:r>
            <a:r>
              <a:rPr lang="ko-KR" altLang="en-US" sz="2000" dirty="0"/>
              <a:t>사용 </a:t>
            </a:r>
            <a:r>
              <a:rPr lang="ko-KR" altLang="en-US" sz="2000" dirty="0" err="1"/>
              <a:t>안할시</a:t>
            </a:r>
            <a:endParaRPr lang="en-US" altLang="ko-KR" sz="20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3CD9C1A-065F-A77C-1E4F-EE6B391E8874}"/>
              </a:ext>
            </a:extLst>
          </p:cNvPr>
          <p:cNvGrpSpPr/>
          <p:nvPr/>
        </p:nvGrpSpPr>
        <p:grpSpPr>
          <a:xfrm>
            <a:off x="566551" y="2988614"/>
            <a:ext cx="10335491" cy="813459"/>
            <a:chOff x="773380" y="2339438"/>
            <a:chExt cx="10335491" cy="813459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63CAADE8-2D12-AB8A-ADD4-CA940819A6D8}"/>
                </a:ext>
              </a:extLst>
            </p:cNvPr>
            <p:cNvSpPr/>
            <p:nvPr/>
          </p:nvSpPr>
          <p:spPr>
            <a:xfrm>
              <a:off x="773380" y="2339438"/>
              <a:ext cx="10335491" cy="813459"/>
            </a:xfrm>
            <a:prstGeom prst="roundRect">
              <a:avLst>
                <a:gd name="adj" fmla="val 580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E8D8E64-3235-9DB5-9798-EE465BC50E36}"/>
                </a:ext>
              </a:extLst>
            </p:cNvPr>
            <p:cNvSpPr txBox="1"/>
            <p:nvPr/>
          </p:nvSpPr>
          <p:spPr>
            <a:xfrm>
              <a:off x="867889" y="2367862"/>
              <a:ext cx="858981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accent2"/>
                  </a:solidFill>
                </a:rPr>
                <a:t>cd </a:t>
              </a:r>
              <a:r>
                <a:rPr lang="en-US" altLang="ko-KR" dirty="0"/>
                <a:t>~/</a:t>
              </a:r>
              <a:r>
                <a:rPr lang="en-US" altLang="ko-KR" dirty="0" err="1"/>
                <a:t>docker_autoenc</a:t>
              </a:r>
              <a:r>
                <a:rPr lang="en-US" altLang="ko-KR" dirty="0"/>
                <a:t>/</a:t>
              </a:r>
              <a:r>
                <a:rPr lang="en-US" altLang="ko-KR" dirty="0" err="1"/>
                <a:t>src</a:t>
              </a:r>
              <a:endParaRPr lang="en-US" altLang="ko-KR" dirty="0"/>
            </a:p>
            <a:p>
              <a:r>
                <a:rPr lang="en-US" altLang="ko-KR" dirty="0"/>
                <a:t>python3 train_autoenc2.py</a:t>
              </a:r>
            </a:p>
          </p:txBody>
        </p:sp>
      </p:grp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A715519C-5CE6-E207-C5A5-FD939F2753DB}"/>
              </a:ext>
            </a:extLst>
          </p:cNvPr>
          <p:cNvSpPr txBox="1">
            <a:spLocks/>
          </p:cNvSpPr>
          <p:nvPr/>
        </p:nvSpPr>
        <p:spPr>
          <a:xfrm>
            <a:off x="220683" y="3953221"/>
            <a:ext cx="9671462" cy="4260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실행 방법 </a:t>
            </a:r>
            <a:r>
              <a:rPr lang="en-US" altLang="ko-KR" sz="2000" b="1" dirty="0"/>
              <a:t>(Docker</a:t>
            </a:r>
            <a:r>
              <a:rPr lang="ko-KR" altLang="en-US" sz="2000" b="1" dirty="0"/>
              <a:t> 기준</a:t>
            </a:r>
            <a:r>
              <a:rPr lang="en-US" altLang="ko-KR" sz="2000" b="1" dirty="0"/>
              <a:t>)</a:t>
            </a:r>
            <a:endParaRPr lang="en-US" altLang="ko-KR" sz="2000" dirty="0"/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A5AB8E0D-775E-C2F0-2F7B-653142F6D11F}"/>
              </a:ext>
            </a:extLst>
          </p:cNvPr>
          <p:cNvSpPr txBox="1">
            <a:spLocks/>
          </p:cNvSpPr>
          <p:nvPr/>
        </p:nvSpPr>
        <p:spPr>
          <a:xfrm>
            <a:off x="447302" y="4379302"/>
            <a:ext cx="10834255" cy="4260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 err="1"/>
              <a:t>wafer_data</a:t>
            </a:r>
            <a:r>
              <a:rPr lang="ko-KR" altLang="en-US" sz="1800" dirty="0"/>
              <a:t>가 외부</a:t>
            </a:r>
            <a:r>
              <a:rPr lang="en-US" altLang="ko-KR" sz="1800" dirty="0"/>
              <a:t>(</a:t>
            </a:r>
            <a:r>
              <a:rPr lang="ko-KR" altLang="en-US" sz="1800" dirty="0"/>
              <a:t>로컬</a:t>
            </a:r>
            <a:r>
              <a:rPr lang="en-US" altLang="ko-KR" sz="1800" dirty="0"/>
              <a:t>)</a:t>
            </a:r>
            <a:r>
              <a:rPr lang="ko-KR" altLang="en-US" sz="1800" dirty="0"/>
              <a:t>에서 </a:t>
            </a:r>
            <a:r>
              <a:rPr lang="en-US" altLang="ko-KR" sz="1800" dirty="0"/>
              <a:t>Docker</a:t>
            </a:r>
            <a:r>
              <a:rPr lang="ko-KR" altLang="en-US" sz="1800" dirty="0"/>
              <a:t>내로 마운트 되는 경우</a:t>
            </a:r>
            <a:endParaRPr lang="en-US" altLang="ko-KR" sz="18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DAB30B9-2420-3390-4525-8DCC715DAFF4}"/>
              </a:ext>
            </a:extLst>
          </p:cNvPr>
          <p:cNvGrpSpPr/>
          <p:nvPr/>
        </p:nvGrpSpPr>
        <p:grpSpPr>
          <a:xfrm>
            <a:off x="566551" y="4824797"/>
            <a:ext cx="10335491" cy="1477329"/>
            <a:chOff x="773380" y="2339438"/>
            <a:chExt cx="10335491" cy="1477329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A1C45601-6C4A-0478-C63D-B29F982DFB47}"/>
                </a:ext>
              </a:extLst>
            </p:cNvPr>
            <p:cNvSpPr/>
            <p:nvPr/>
          </p:nvSpPr>
          <p:spPr>
            <a:xfrm>
              <a:off x="773380" y="2339439"/>
              <a:ext cx="10335491" cy="1477328"/>
            </a:xfrm>
            <a:prstGeom prst="roundRect">
              <a:avLst>
                <a:gd name="adj" fmla="val 580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1BEBCE7-98D2-7BB0-456B-4B2DEEDDEF26}"/>
                </a:ext>
              </a:extLst>
            </p:cNvPr>
            <p:cNvSpPr txBox="1"/>
            <p:nvPr/>
          </p:nvSpPr>
          <p:spPr>
            <a:xfrm>
              <a:off x="867889" y="2339438"/>
              <a:ext cx="10240982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 err="1"/>
                <a:t>sudo</a:t>
              </a:r>
              <a:r>
                <a:rPr lang="en-US" altLang="ko-KR" dirty="0"/>
                <a:t> docker run --rm -it \</a:t>
              </a:r>
            </a:p>
            <a:p>
              <a:r>
                <a:rPr lang="en-US" altLang="ko-KR" dirty="0"/>
                <a:t>  -v ~/</a:t>
              </a:r>
              <a:r>
                <a:rPr lang="en-US" altLang="ko-KR" dirty="0" err="1"/>
                <a:t>docker_autoenc</a:t>
              </a:r>
              <a:r>
                <a:rPr lang="en-US" altLang="ko-KR" dirty="0"/>
                <a:t>/</a:t>
              </a:r>
              <a:r>
                <a:rPr lang="en-US" altLang="ko-KR" dirty="0" err="1"/>
                <a:t>src</a:t>
              </a:r>
              <a:r>
                <a:rPr lang="en-US" altLang="ko-KR" dirty="0"/>
                <a:t>/</a:t>
              </a:r>
              <a:r>
                <a:rPr lang="en-US" altLang="ko-KR" dirty="0" err="1"/>
                <a:t>wafer_data</a:t>
              </a:r>
              <a:r>
                <a:rPr lang="en-US" altLang="ko-KR" dirty="0"/>
                <a:t>:/workspace/</a:t>
              </a:r>
              <a:r>
                <a:rPr lang="en-US" altLang="ko-KR" dirty="0" err="1"/>
                <a:t>src</a:t>
              </a:r>
              <a:r>
                <a:rPr lang="en-US" altLang="ko-KR" dirty="0"/>
                <a:t>/</a:t>
              </a:r>
              <a:r>
                <a:rPr lang="en-US" altLang="ko-KR" dirty="0" err="1"/>
                <a:t>wafer_data</a:t>
              </a:r>
              <a:r>
                <a:rPr lang="en-US" altLang="ko-KR" dirty="0"/>
                <a:t> \</a:t>
              </a:r>
            </a:p>
            <a:p>
              <a:r>
                <a:rPr lang="en-US" altLang="ko-KR" dirty="0"/>
                <a:t>  -v ~/</a:t>
              </a:r>
              <a:r>
                <a:rPr lang="en-US" altLang="ko-KR" dirty="0" err="1"/>
                <a:t>docker_autoenc</a:t>
              </a:r>
              <a:r>
                <a:rPr lang="en-US" altLang="ko-KR" dirty="0"/>
                <a:t>/models:/workspace/</a:t>
              </a:r>
              <a:r>
                <a:rPr lang="en-US" altLang="ko-KR" dirty="0" err="1"/>
                <a:t>src</a:t>
              </a:r>
              <a:r>
                <a:rPr lang="en-US" altLang="ko-KR" dirty="0"/>
                <a:t>/models \</a:t>
              </a:r>
            </a:p>
            <a:p>
              <a:r>
                <a:rPr lang="en-US" altLang="ko-KR" dirty="0"/>
                <a:t>  </a:t>
              </a:r>
              <a:r>
                <a:rPr lang="en-US" altLang="ko-KR" dirty="0" err="1"/>
                <a:t>autoenc</a:t>
              </a:r>
              <a:r>
                <a:rPr lang="en-US" altLang="ko-KR" dirty="0"/>
                <a:t>-docker \</a:t>
              </a:r>
            </a:p>
            <a:p>
              <a:r>
                <a:rPr lang="en-US" altLang="ko-KR" dirty="0"/>
                <a:t>  python /workspace/src/check_faulty_data2.py</a:t>
              </a:r>
            </a:p>
          </p:txBody>
        </p:sp>
      </p:grp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4ADBDCD-7A3A-1F9B-8CD2-2DC8A4EFC067}"/>
              </a:ext>
            </a:extLst>
          </p:cNvPr>
          <p:cNvSpPr/>
          <p:nvPr/>
        </p:nvSpPr>
        <p:spPr>
          <a:xfrm>
            <a:off x="10153403" y="1464423"/>
            <a:ext cx="496786" cy="2751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C096069-8569-F065-9B95-595982AC718A}"/>
              </a:ext>
            </a:extLst>
          </p:cNvPr>
          <p:cNvSpPr/>
          <p:nvPr/>
        </p:nvSpPr>
        <p:spPr>
          <a:xfrm>
            <a:off x="1266702" y="2161644"/>
            <a:ext cx="2117766" cy="22743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65034917-CC66-A40A-8E5B-80857AFB262F}"/>
              </a:ext>
            </a:extLst>
          </p:cNvPr>
          <p:cNvSpPr txBox="1">
            <a:spLocks/>
          </p:cNvSpPr>
          <p:nvPr/>
        </p:nvSpPr>
        <p:spPr>
          <a:xfrm>
            <a:off x="447303" y="1460665"/>
            <a:ext cx="10774879" cy="11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ko-KR" altLang="en-US" sz="1800" b="1" dirty="0"/>
              <a:t>정상 데이터 기반으로 재구성 오류의 </a:t>
            </a:r>
            <a:r>
              <a:rPr lang="ko-KR" altLang="en-US" sz="1800" b="1" dirty="0" err="1"/>
              <a:t>임계값</a:t>
            </a:r>
            <a:r>
              <a:rPr lang="en-US" altLang="ko-KR" sz="1800" b="1" dirty="0"/>
              <a:t>(Threshold)</a:t>
            </a:r>
            <a:r>
              <a:rPr lang="ko-KR" altLang="en-US" sz="1800" b="1" dirty="0"/>
              <a:t>를 자동 산출</a:t>
            </a:r>
            <a:r>
              <a:rPr lang="ko-KR" altLang="en-US" sz="1800" dirty="0"/>
              <a:t>하고</a:t>
            </a:r>
            <a:r>
              <a:rPr lang="en-US" altLang="ko-KR" sz="1800" dirty="0"/>
              <a:t>, </a:t>
            </a:r>
            <a:r>
              <a:rPr lang="ko-KR" altLang="en-US" sz="1800" dirty="0"/>
              <a:t>이 </a:t>
            </a:r>
            <a:r>
              <a:rPr lang="ko-KR" altLang="en-US" sz="1800" dirty="0" err="1"/>
              <a:t>임계값을</a:t>
            </a:r>
            <a:r>
              <a:rPr lang="ko-KR" altLang="en-US" sz="1800" dirty="0"/>
              <a:t> 기준으로 </a:t>
            </a:r>
            <a:r>
              <a:rPr lang="en-US" altLang="ko-KR" sz="1800" b="1" dirty="0" err="1"/>
              <a:t>wafer_data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내 고장 데이터를 판별</a:t>
            </a:r>
            <a:r>
              <a:rPr lang="ko-KR" altLang="en-US" sz="1800" dirty="0"/>
              <a:t>함 </a:t>
            </a:r>
            <a:endParaRPr lang="en-US" altLang="ko-KR" sz="1800" dirty="0"/>
          </a:p>
          <a:p>
            <a:pPr>
              <a:spcBef>
                <a:spcPts val="1200"/>
              </a:spcBef>
            </a:pPr>
            <a:r>
              <a:rPr lang="ko-KR" altLang="en-US" sz="1800" dirty="0"/>
              <a:t>기존 </a:t>
            </a:r>
            <a:r>
              <a:rPr lang="en-US" altLang="ko-KR" sz="1800" dirty="0"/>
              <a:t>check_faulty_data.py </a:t>
            </a:r>
            <a:r>
              <a:rPr lang="ko-KR" altLang="en-US" sz="1800" dirty="0"/>
              <a:t>와 달리 </a:t>
            </a:r>
            <a:r>
              <a:rPr lang="en-US" altLang="ko-KR" sz="1800" b="1" dirty="0"/>
              <a:t>k-sigma(3σ </a:t>
            </a:r>
            <a:r>
              <a:rPr lang="ko-KR" altLang="en-US" sz="1800" b="1" dirty="0"/>
              <a:t>등</a:t>
            </a:r>
            <a:r>
              <a:rPr lang="en-US" altLang="ko-KR" sz="1800" b="1" dirty="0"/>
              <a:t>) </a:t>
            </a:r>
            <a:r>
              <a:rPr lang="ko-KR" altLang="en-US" sz="1800" b="1" dirty="0"/>
              <a:t>기반 동적 </a:t>
            </a:r>
            <a:r>
              <a:rPr lang="ko-KR" altLang="en-US" sz="1800" b="1" dirty="0" err="1"/>
              <a:t>임계값</a:t>
            </a:r>
            <a:r>
              <a:rPr lang="ko-KR" altLang="en-US" sz="1800" b="1" dirty="0"/>
              <a:t> 계산</a:t>
            </a:r>
            <a:r>
              <a:rPr lang="ko-KR" altLang="en-US" sz="1800" dirty="0"/>
              <a:t>을 수행</a:t>
            </a:r>
            <a:endParaRPr lang="en-US" altLang="ko-KR" sz="18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9C2B235-A9E7-EFA8-9FF6-9E6F01CA560C}"/>
              </a:ext>
            </a:extLst>
          </p:cNvPr>
          <p:cNvSpPr/>
          <p:nvPr/>
        </p:nvSpPr>
        <p:spPr>
          <a:xfrm>
            <a:off x="2814448" y="1053670"/>
            <a:ext cx="2529447" cy="26829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3508A57A-31C0-0E5D-403E-A947D5491971}"/>
              </a:ext>
            </a:extLst>
          </p:cNvPr>
          <p:cNvSpPr txBox="1">
            <a:spLocks/>
          </p:cNvSpPr>
          <p:nvPr/>
        </p:nvSpPr>
        <p:spPr>
          <a:xfrm>
            <a:off x="220683" y="1021279"/>
            <a:ext cx="6227618" cy="436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고장 데이터 판별 </a:t>
            </a:r>
            <a:r>
              <a:rPr lang="en-US" altLang="ko-KR" sz="2000" b="1" dirty="0"/>
              <a:t>2 </a:t>
            </a:r>
            <a:r>
              <a:rPr lang="en-US" altLang="ko-KR" sz="2000" dirty="0"/>
              <a:t>check_faulty_data2.py</a:t>
            </a:r>
          </a:p>
        </p:txBody>
      </p:sp>
    </p:spTree>
    <p:extLst>
      <p:ext uri="{BB962C8B-B14F-4D97-AF65-F5344CB8AC3E}">
        <p14:creationId xmlns:p14="http://schemas.microsoft.com/office/powerpoint/2010/main" val="2052123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BCF63-BF8D-C0A5-DC67-F0FB5EB3B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E0FCA2F-3DDB-A2DE-82D1-B2D6A2A14351}"/>
              </a:ext>
            </a:extLst>
          </p:cNvPr>
          <p:cNvSpPr/>
          <p:nvPr/>
        </p:nvSpPr>
        <p:spPr>
          <a:xfrm>
            <a:off x="4028704" y="5085992"/>
            <a:ext cx="1445822" cy="28389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4FC0FB6-A703-665B-FED3-C8B4FE65AADD}"/>
              </a:ext>
            </a:extLst>
          </p:cNvPr>
          <p:cNvSpPr/>
          <p:nvPr/>
        </p:nvSpPr>
        <p:spPr>
          <a:xfrm>
            <a:off x="4047503" y="4682826"/>
            <a:ext cx="453246" cy="22845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659368F-E85B-F007-E321-EFAFF34344C7}"/>
              </a:ext>
            </a:extLst>
          </p:cNvPr>
          <p:cNvSpPr/>
          <p:nvPr/>
        </p:nvSpPr>
        <p:spPr>
          <a:xfrm>
            <a:off x="8584044" y="4436310"/>
            <a:ext cx="2613397" cy="3123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21549AC-4E21-7555-6182-C68BB9E644EB}"/>
              </a:ext>
            </a:extLst>
          </p:cNvPr>
          <p:cNvSpPr/>
          <p:nvPr/>
        </p:nvSpPr>
        <p:spPr>
          <a:xfrm>
            <a:off x="4047502" y="3962605"/>
            <a:ext cx="1640779" cy="28820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8E07731-E1F6-BB48-AC46-071EFD6D342B}"/>
              </a:ext>
            </a:extLst>
          </p:cNvPr>
          <p:cNvSpPr/>
          <p:nvPr/>
        </p:nvSpPr>
        <p:spPr>
          <a:xfrm>
            <a:off x="4028703" y="3429001"/>
            <a:ext cx="2613397" cy="3123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75D4D5-896B-4FBF-C02C-32A4A30BD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주요 스크립트 사용법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F6DDE91-4B51-CDE6-BF04-65DEBFDD4808}"/>
              </a:ext>
            </a:extLst>
          </p:cNvPr>
          <p:cNvSpPr txBox="1">
            <a:spLocks/>
          </p:cNvSpPr>
          <p:nvPr/>
        </p:nvSpPr>
        <p:spPr>
          <a:xfrm>
            <a:off x="220683" y="2360658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코드 동작 방식</a:t>
            </a:r>
            <a:endParaRPr lang="en-US" altLang="ko-KR" sz="2000" b="1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982C65B-E780-FA3D-7DEE-A6F3972DF5C8}"/>
              </a:ext>
            </a:extLst>
          </p:cNvPr>
          <p:cNvSpPr txBox="1">
            <a:spLocks/>
          </p:cNvSpPr>
          <p:nvPr/>
        </p:nvSpPr>
        <p:spPr>
          <a:xfrm>
            <a:off x="589807" y="2886580"/>
            <a:ext cx="185749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b="1" dirty="0"/>
              <a:t>단계</a:t>
            </a:r>
            <a:endParaRPr lang="en-US" altLang="ko-KR" sz="1800" b="1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75A9C908-2A9E-FB1E-EB90-B137526A7E4D}"/>
              </a:ext>
            </a:extLst>
          </p:cNvPr>
          <p:cNvSpPr txBox="1">
            <a:spLocks/>
          </p:cNvSpPr>
          <p:nvPr/>
        </p:nvSpPr>
        <p:spPr>
          <a:xfrm>
            <a:off x="3984170" y="2886580"/>
            <a:ext cx="185749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b="1"/>
              <a:t>설명</a:t>
            </a:r>
            <a:endParaRPr lang="en-US" altLang="ko-KR" sz="1800" b="1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0FDA10B-E03E-4F28-4A40-B9E7D82B5C41}"/>
              </a:ext>
            </a:extLst>
          </p:cNvPr>
          <p:cNvCxnSpPr>
            <a:cxnSpLocks/>
          </p:cNvCxnSpPr>
          <p:nvPr/>
        </p:nvCxnSpPr>
        <p:spPr>
          <a:xfrm>
            <a:off x="672936" y="3313216"/>
            <a:ext cx="1060862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0D745D56-6F2D-CF77-93B6-9795981BF822}"/>
              </a:ext>
            </a:extLst>
          </p:cNvPr>
          <p:cNvSpPr txBox="1">
            <a:spLocks/>
          </p:cNvSpPr>
          <p:nvPr/>
        </p:nvSpPr>
        <p:spPr>
          <a:xfrm>
            <a:off x="589806" y="3444893"/>
            <a:ext cx="292528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1. </a:t>
            </a:r>
            <a:r>
              <a:rPr lang="ko-KR" altLang="en-US" sz="1800" b="1" dirty="0"/>
              <a:t>모델 로드</a:t>
            </a:r>
            <a:endParaRPr lang="en-US" altLang="ko-KR" sz="1800" b="1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61EC1E6E-5A36-61D0-5A0F-2308882273AC}"/>
              </a:ext>
            </a:extLst>
          </p:cNvPr>
          <p:cNvSpPr txBox="1">
            <a:spLocks/>
          </p:cNvSpPr>
          <p:nvPr/>
        </p:nvSpPr>
        <p:spPr>
          <a:xfrm>
            <a:off x="3984169" y="3405250"/>
            <a:ext cx="7629900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dirty="0"/>
              <a:t>models/</a:t>
            </a:r>
            <a:r>
              <a:rPr lang="en-US" altLang="ko-KR" sz="1800" dirty="0" err="1"/>
              <a:t>autoencoder.pth</a:t>
            </a:r>
            <a:r>
              <a:rPr lang="en-US" altLang="ko-KR" sz="1800" dirty="0"/>
              <a:t>  </a:t>
            </a:r>
            <a:r>
              <a:rPr lang="ko-KR" altLang="en-US" sz="1800" dirty="0"/>
              <a:t>파일을 불러와 </a:t>
            </a:r>
            <a:r>
              <a:rPr lang="en-US" altLang="ko-KR" sz="1800" dirty="0"/>
              <a:t>Autoencoder </a:t>
            </a:r>
            <a:r>
              <a:rPr lang="ko-KR" altLang="en-US" sz="1800" dirty="0"/>
              <a:t>네트워크에 로드</a:t>
            </a:r>
            <a:endParaRPr lang="en-US" altLang="ko-KR" sz="1800" dirty="0"/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388A5111-CDF9-B37E-A2E8-98BD7CC3B168}"/>
              </a:ext>
            </a:extLst>
          </p:cNvPr>
          <p:cNvSpPr txBox="1">
            <a:spLocks/>
          </p:cNvSpPr>
          <p:nvPr/>
        </p:nvSpPr>
        <p:spPr>
          <a:xfrm>
            <a:off x="589806" y="3989671"/>
            <a:ext cx="2830288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2. </a:t>
            </a:r>
            <a:r>
              <a:rPr lang="ko-KR" altLang="en-US" sz="1800" b="1" dirty="0"/>
              <a:t>정상 데이터 로딩</a:t>
            </a:r>
            <a:endParaRPr lang="en-US" altLang="ko-KR" sz="1800" b="1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EC257DB-D8F7-3728-C7CB-CDF139626FE8}"/>
              </a:ext>
            </a:extLst>
          </p:cNvPr>
          <p:cNvCxnSpPr>
            <a:cxnSpLocks/>
          </p:cNvCxnSpPr>
          <p:nvPr/>
        </p:nvCxnSpPr>
        <p:spPr>
          <a:xfrm>
            <a:off x="672936" y="3868942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270FD1FF-C558-9E43-2116-BC3F27A09560}"/>
              </a:ext>
            </a:extLst>
          </p:cNvPr>
          <p:cNvSpPr txBox="1">
            <a:spLocks/>
          </p:cNvSpPr>
          <p:nvPr/>
        </p:nvSpPr>
        <p:spPr>
          <a:xfrm>
            <a:off x="3984169" y="3934428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dirty="0"/>
              <a:t>NORMAL_FILES </a:t>
            </a:r>
            <a:r>
              <a:rPr lang="ko-KR" altLang="en-US" sz="1800" dirty="0"/>
              <a:t>목록의 정상 데이터를 로드 및 </a:t>
            </a:r>
            <a:r>
              <a:rPr lang="ko-KR" altLang="en-US" sz="1800" dirty="0" err="1"/>
              <a:t>전처리</a:t>
            </a:r>
            <a:endParaRPr lang="en-US" altLang="ko-KR" sz="1800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6CD0FAF-93B7-A10F-149A-369703833E36}"/>
              </a:ext>
            </a:extLst>
          </p:cNvPr>
          <p:cNvCxnSpPr>
            <a:cxnSpLocks/>
          </p:cNvCxnSpPr>
          <p:nvPr/>
        </p:nvCxnSpPr>
        <p:spPr>
          <a:xfrm>
            <a:off x="672936" y="4413078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332FEF29-15ED-FB78-FA09-51D57B73C1CF}"/>
              </a:ext>
            </a:extLst>
          </p:cNvPr>
          <p:cNvSpPr txBox="1">
            <a:spLocks/>
          </p:cNvSpPr>
          <p:nvPr/>
        </p:nvSpPr>
        <p:spPr>
          <a:xfrm>
            <a:off x="589806" y="4516149"/>
            <a:ext cx="2830288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3. </a:t>
            </a:r>
            <a:r>
              <a:rPr lang="ko-KR" altLang="en-US" sz="1800" b="1" dirty="0" err="1"/>
              <a:t>임계값</a:t>
            </a:r>
            <a:r>
              <a:rPr lang="ko-KR" altLang="en-US" sz="1800" b="1" dirty="0"/>
              <a:t> 계산</a:t>
            </a:r>
            <a:r>
              <a:rPr lang="en-US" altLang="ko-KR" sz="1800" b="1" dirty="0"/>
              <a:t>(k-sigma)</a:t>
            </a:r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45D7F42D-960A-18B8-B70A-80BAF22D44D8}"/>
              </a:ext>
            </a:extLst>
          </p:cNvPr>
          <p:cNvSpPr txBox="1">
            <a:spLocks/>
          </p:cNvSpPr>
          <p:nvPr/>
        </p:nvSpPr>
        <p:spPr>
          <a:xfrm>
            <a:off x="3996044" y="4457107"/>
            <a:ext cx="7618025" cy="542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dirty="0"/>
              <a:t>재구성 오류들의 평균과 표준편차를 이용해 </a:t>
            </a:r>
            <a:r>
              <a:rPr lang="ko-KR" altLang="en-US" sz="1800" dirty="0" err="1"/>
              <a:t>임계값</a:t>
            </a:r>
            <a:r>
              <a:rPr lang="ko-KR" altLang="en-US" sz="1800" dirty="0"/>
              <a:t> </a:t>
            </a:r>
            <a:r>
              <a:rPr lang="en-US" altLang="ko-KR" sz="1800" dirty="0"/>
              <a:t>= </a:t>
            </a:r>
            <a:r>
              <a:rPr lang="ko-KR" altLang="en-US" sz="1800" dirty="0"/>
              <a:t>평균 </a:t>
            </a:r>
            <a:r>
              <a:rPr lang="en-US" altLang="ko-KR" sz="1800" dirty="0"/>
              <a:t>+ k * </a:t>
            </a:r>
            <a:r>
              <a:rPr lang="ko-KR" altLang="en-US" sz="1800" dirty="0"/>
              <a:t>표준 편차로 산출 </a:t>
            </a:r>
            <a:r>
              <a:rPr lang="en-US" altLang="ko-KR" sz="1800" dirty="0"/>
              <a:t>(</a:t>
            </a:r>
            <a:r>
              <a:rPr lang="ko-KR" altLang="en-US" sz="1800" dirty="0"/>
              <a:t>기본 </a:t>
            </a:r>
            <a:r>
              <a:rPr lang="en-US" altLang="ko-KR" sz="1800" dirty="0"/>
              <a:t>k = 3) 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8D5F83C-B3CB-1EDF-C72A-4D9FF746E7EA}"/>
              </a:ext>
            </a:extLst>
          </p:cNvPr>
          <p:cNvCxnSpPr>
            <a:cxnSpLocks/>
          </p:cNvCxnSpPr>
          <p:nvPr/>
        </p:nvCxnSpPr>
        <p:spPr>
          <a:xfrm>
            <a:off x="672936" y="4990710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DC3BACEE-BDD3-6686-C1CE-D30CA5D20B46}"/>
              </a:ext>
            </a:extLst>
          </p:cNvPr>
          <p:cNvSpPr txBox="1">
            <a:spLocks/>
          </p:cNvSpPr>
          <p:nvPr/>
        </p:nvSpPr>
        <p:spPr>
          <a:xfrm>
            <a:off x="589805" y="5126125"/>
            <a:ext cx="3394363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4. </a:t>
            </a:r>
            <a:r>
              <a:rPr lang="ko-KR" altLang="en-US" sz="1800" b="1" dirty="0"/>
              <a:t>고장 데이터 판별</a:t>
            </a:r>
            <a:endParaRPr lang="en-US" altLang="ko-KR" sz="1800" b="1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91C00C91-FE00-DEEA-B1B0-740CFBE7073A}"/>
              </a:ext>
            </a:extLst>
          </p:cNvPr>
          <p:cNvSpPr txBox="1">
            <a:spLocks/>
          </p:cNvSpPr>
          <p:nvPr/>
        </p:nvSpPr>
        <p:spPr>
          <a:xfrm>
            <a:off x="3984169" y="5134941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dirty="0"/>
              <a:t>FAULTY_FILES </a:t>
            </a:r>
            <a:r>
              <a:rPr lang="ko-KR" altLang="en-US" sz="1800" dirty="0"/>
              <a:t>목록의 데이터를 재구성하고</a:t>
            </a:r>
            <a:r>
              <a:rPr lang="en-US" altLang="ko-KR" sz="1800" dirty="0"/>
              <a:t>, </a:t>
            </a:r>
            <a:r>
              <a:rPr lang="ko-KR" altLang="en-US" sz="1800" dirty="0"/>
              <a:t>오류를 기준으로 고장 여부 판별</a:t>
            </a:r>
            <a:endParaRPr lang="en-US" altLang="ko-KR" sz="1800" dirty="0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DA07C18-94D8-9B0F-9D26-EA9812C1ABB5}"/>
              </a:ext>
            </a:extLst>
          </p:cNvPr>
          <p:cNvCxnSpPr>
            <a:cxnSpLocks/>
          </p:cNvCxnSpPr>
          <p:nvPr/>
        </p:nvCxnSpPr>
        <p:spPr>
          <a:xfrm>
            <a:off x="672936" y="5668545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5A202A2C-2591-83ED-B75F-1844AF4721B9}"/>
              </a:ext>
            </a:extLst>
          </p:cNvPr>
          <p:cNvSpPr txBox="1">
            <a:spLocks/>
          </p:cNvSpPr>
          <p:nvPr/>
        </p:nvSpPr>
        <p:spPr>
          <a:xfrm>
            <a:off x="589805" y="5747976"/>
            <a:ext cx="307966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5. </a:t>
            </a:r>
            <a:r>
              <a:rPr lang="ko-KR" altLang="en-US" sz="1800" b="1" dirty="0"/>
              <a:t>고장 비율 기준 판정</a:t>
            </a:r>
            <a:endParaRPr lang="en-US" altLang="ko-KR" sz="1800" b="1" dirty="0"/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A19FB063-8DC3-23EA-8F68-9C103475888D}"/>
              </a:ext>
            </a:extLst>
          </p:cNvPr>
          <p:cNvSpPr txBox="1">
            <a:spLocks/>
          </p:cNvSpPr>
          <p:nvPr/>
        </p:nvSpPr>
        <p:spPr>
          <a:xfrm>
            <a:off x="3996044" y="5772045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dirty="0"/>
              <a:t>파일별로 </a:t>
            </a:r>
            <a:r>
              <a:rPr lang="en-US" altLang="ko-KR" sz="1800" dirty="0"/>
              <a:t>50% </a:t>
            </a:r>
            <a:r>
              <a:rPr lang="ko-KR" altLang="en-US" sz="1800" dirty="0"/>
              <a:t>이상 고장 데이터 비율 시 고장으로 판정</a:t>
            </a:r>
            <a:endParaRPr lang="en-US" altLang="ko-KR" sz="18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4B5C183-E2A3-6879-B03C-C2B10F0ABC82}"/>
              </a:ext>
            </a:extLst>
          </p:cNvPr>
          <p:cNvCxnSpPr>
            <a:cxnSpLocks/>
          </p:cNvCxnSpPr>
          <p:nvPr/>
        </p:nvCxnSpPr>
        <p:spPr>
          <a:xfrm>
            <a:off x="661060" y="6186896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EDC0700-8E14-9809-586B-F2E3C0A73C5E}"/>
              </a:ext>
            </a:extLst>
          </p:cNvPr>
          <p:cNvSpPr/>
          <p:nvPr/>
        </p:nvSpPr>
        <p:spPr>
          <a:xfrm>
            <a:off x="10153403" y="1464423"/>
            <a:ext cx="496786" cy="2751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5E85162-170D-EEE5-9B51-218CD0D71D3E}"/>
              </a:ext>
            </a:extLst>
          </p:cNvPr>
          <p:cNvSpPr/>
          <p:nvPr/>
        </p:nvSpPr>
        <p:spPr>
          <a:xfrm>
            <a:off x="672936" y="1508167"/>
            <a:ext cx="1322119" cy="2076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223CA10-C2FD-13D6-9D5E-EDC57BE07020}"/>
              </a:ext>
            </a:extLst>
          </p:cNvPr>
          <p:cNvSpPr txBox="1">
            <a:spLocks/>
          </p:cNvSpPr>
          <p:nvPr/>
        </p:nvSpPr>
        <p:spPr>
          <a:xfrm>
            <a:off x="447303" y="1460665"/>
            <a:ext cx="10774879" cy="11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 err="1"/>
              <a:t>wafer_data</a:t>
            </a:r>
            <a:r>
              <a:rPr lang="en-US" altLang="ko-KR" sz="1800" dirty="0"/>
              <a:t>/ </a:t>
            </a:r>
            <a:r>
              <a:rPr lang="ko-KR" altLang="en-US" sz="1800" dirty="0"/>
              <a:t>내 </a:t>
            </a:r>
            <a:r>
              <a:rPr lang="ko-KR" altLang="en-US" sz="1800" b="1" dirty="0"/>
              <a:t>정상 상태 데이터 파일을 기반으로 </a:t>
            </a:r>
            <a:r>
              <a:rPr lang="en-US" altLang="ko-KR" sz="1800" b="1" dirty="0"/>
              <a:t>Autoencoder</a:t>
            </a:r>
            <a:r>
              <a:rPr lang="ko-KR" altLang="en-US" sz="1800" b="1" dirty="0"/>
              <a:t>를 학습</a:t>
            </a:r>
            <a:r>
              <a:rPr lang="ko-KR" altLang="en-US" sz="1800" dirty="0"/>
              <a:t>하고 학습된 모델을 </a:t>
            </a:r>
            <a:r>
              <a:rPr lang="en-US" altLang="ko-KR" sz="1800" dirty="0"/>
              <a:t>.</a:t>
            </a:r>
            <a:r>
              <a:rPr lang="en-US" altLang="ko-KR" sz="1800" dirty="0" err="1"/>
              <a:t>pth</a:t>
            </a:r>
            <a:r>
              <a:rPr lang="ko-KR" altLang="en-US" sz="1800" dirty="0"/>
              <a:t> 파일로 저장하며</a:t>
            </a:r>
            <a:r>
              <a:rPr lang="en-US" altLang="ko-KR" sz="1800" dirty="0"/>
              <a:t>, </a:t>
            </a:r>
            <a:r>
              <a:rPr lang="ko-KR" altLang="en-US" sz="1800" dirty="0"/>
              <a:t>학습 </a:t>
            </a:r>
            <a:r>
              <a:rPr lang="en-US" altLang="ko-KR" sz="1800" dirty="0"/>
              <a:t>Loss </a:t>
            </a:r>
            <a:r>
              <a:rPr lang="ko-KR" altLang="en-US" sz="1800" dirty="0"/>
              <a:t>시각화 및 결과를 파일로 출력</a:t>
            </a:r>
            <a:endParaRPr lang="en-US" altLang="ko-KR" sz="1800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3F9325C-656F-CA12-CA3F-8E405DCFF84C}"/>
              </a:ext>
            </a:extLst>
          </p:cNvPr>
          <p:cNvSpPr/>
          <p:nvPr/>
        </p:nvSpPr>
        <p:spPr>
          <a:xfrm>
            <a:off x="1805046" y="1045884"/>
            <a:ext cx="1983184" cy="3426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F7B7C00E-1A10-E677-E45C-5A1B8528DE48}"/>
              </a:ext>
            </a:extLst>
          </p:cNvPr>
          <p:cNvSpPr txBox="1">
            <a:spLocks/>
          </p:cNvSpPr>
          <p:nvPr/>
        </p:nvSpPr>
        <p:spPr>
          <a:xfrm>
            <a:off x="220683" y="1021279"/>
            <a:ext cx="6227618" cy="436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모델 학습 </a:t>
            </a:r>
            <a:r>
              <a:rPr lang="en-US" altLang="ko-KR" sz="2000" dirty="0"/>
              <a:t>train_autoenc.py</a:t>
            </a:r>
          </a:p>
        </p:txBody>
      </p:sp>
    </p:spTree>
    <p:extLst>
      <p:ext uri="{BB962C8B-B14F-4D97-AF65-F5344CB8AC3E}">
        <p14:creationId xmlns:p14="http://schemas.microsoft.com/office/powerpoint/2010/main" val="1018201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9D11F-810E-6276-5303-03773313C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25C4C8E-E2DC-B4FC-6DDF-376C2ACE0E16}"/>
              </a:ext>
            </a:extLst>
          </p:cNvPr>
          <p:cNvSpPr/>
          <p:nvPr/>
        </p:nvSpPr>
        <p:spPr>
          <a:xfrm>
            <a:off x="4028704" y="5085992"/>
            <a:ext cx="1445822" cy="28389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8F18EEE-FE8C-FC98-DE1B-3024ECBA1FB9}"/>
              </a:ext>
            </a:extLst>
          </p:cNvPr>
          <p:cNvSpPr/>
          <p:nvPr/>
        </p:nvSpPr>
        <p:spPr>
          <a:xfrm>
            <a:off x="4047503" y="4682826"/>
            <a:ext cx="453246" cy="22845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E375B4F-0E15-C390-6732-63EF32E8F7C3}"/>
              </a:ext>
            </a:extLst>
          </p:cNvPr>
          <p:cNvSpPr/>
          <p:nvPr/>
        </p:nvSpPr>
        <p:spPr>
          <a:xfrm>
            <a:off x="8584044" y="4436310"/>
            <a:ext cx="2613397" cy="3123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4EC137C-120E-D992-42FF-8A4032F7BA62}"/>
              </a:ext>
            </a:extLst>
          </p:cNvPr>
          <p:cNvSpPr/>
          <p:nvPr/>
        </p:nvSpPr>
        <p:spPr>
          <a:xfrm>
            <a:off x="4047502" y="3962605"/>
            <a:ext cx="1640779" cy="28820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1807636-4F65-139D-3962-C90A66E42679}"/>
              </a:ext>
            </a:extLst>
          </p:cNvPr>
          <p:cNvSpPr/>
          <p:nvPr/>
        </p:nvSpPr>
        <p:spPr>
          <a:xfrm>
            <a:off x="4028703" y="3429001"/>
            <a:ext cx="2613397" cy="3123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2673354-F025-E7C8-1967-9A456F419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주요 스크립트 사용법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D4E599A-91C5-9189-825C-54E7A40EE3B9}"/>
              </a:ext>
            </a:extLst>
          </p:cNvPr>
          <p:cNvSpPr txBox="1">
            <a:spLocks/>
          </p:cNvSpPr>
          <p:nvPr/>
        </p:nvSpPr>
        <p:spPr>
          <a:xfrm>
            <a:off x="220683" y="2360658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코드 동작 방식</a:t>
            </a:r>
            <a:endParaRPr lang="en-US" altLang="ko-KR" sz="2000" b="1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AD7208B-99FA-2BC1-9955-20125F5EA493}"/>
              </a:ext>
            </a:extLst>
          </p:cNvPr>
          <p:cNvSpPr txBox="1">
            <a:spLocks/>
          </p:cNvSpPr>
          <p:nvPr/>
        </p:nvSpPr>
        <p:spPr>
          <a:xfrm>
            <a:off x="589807" y="2886580"/>
            <a:ext cx="185749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b="1" dirty="0"/>
              <a:t>단계</a:t>
            </a:r>
            <a:endParaRPr lang="en-US" altLang="ko-KR" sz="1800" b="1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9638CC8B-0FBC-DC64-FDF5-AA42C7A3066D}"/>
              </a:ext>
            </a:extLst>
          </p:cNvPr>
          <p:cNvSpPr txBox="1">
            <a:spLocks/>
          </p:cNvSpPr>
          <p:nvPr/>
        </p:nvSpPr>
        <p:spPr>
          <a:xfrm>
            <a:off x="3984170" y="2886580"/>
            <a:ext cx="185749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b="1"/>
              <a:t>설명</a:t>
            </a:r>
            <a:endParaRPr lang="en-US" altLang="ko-KR" sz="1800" b="1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FA07509-961B-7277-FE4F-684011E5458A}"/>
              </a:ext>
            </a:extLst>
          </p:cNvPr>
          <p:cNvCxnSpPr>
            <a:cxnSpLocks/>
          </p:cNvCxnSpPr>
          <p:nvPr/>
        </p:nvCxnSpPr>
        <p:spPr>
          <a:xfrm>
            <a:off x="672936" y="3313216"/>
            <a:ext cx="1060862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F9367CE4-7EE2-A704-71FA-0C6EF22C86C3}"/>
              </a:ext>
            </a:extLst>
          </p:cNvPr>
          <p:cNvSpPr txBox="1">
            <a:spLocks/>
          </p:cNvSpPr>
          <p:nvPr/>
        </p:nvSpPr>
        <p:spPr>
          <a:xfrm>
            <a:off x="589806" y="3444893"/>
            <a:ext cx="292528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1. </a:t>
            </a:r>
            <a:r>
              <a:rPr lang="ko-KR" altLang="en-US" sz="1800" b="1" dirty="0"/>
              <a:t>모델 로드</a:t>
            </a:r>
            <a:endParaRPr lang="en-US" altLang="ko-KR" sz="1800" b="1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6323268F-B987-91C6-EDF2-12283DB21E6D}"/>
              </a:ext>
            </a:extLst>
          </p:cNvPr>
          <p:cNvSpPr txBox="1">
            <a:spLocks/>
          </p:cNvSpPr>
          <p:nvPr/>
        </p:nvSpPr>
        <p:spPr>
          <a:xfrm>
            <a:off x="3984169" y="3405250"/>
            <a:ext cx="7629900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dirty="0"/>
              <a:t>models/</a:t>
            </a:r>
            <a:r>
              <a:rPr lang="en-US" altLang="ko-KR" sz="1800" dirty="0" err="1"/>
              <a:t>autoencoder.pth</a:t>
            </a:r>
            <a:r>
              <a:rPr lang="en-US" altLang="ko-KR" sz="1800" dirty="0"/>
              <a:t>  </a:t>
            </a:r>
            <a:r>
              <a:rPr lang="ko-KR" altLang="en-US" sz="1800" dirty="0"/>
              <a:t>파일을 불러와 </a:t>
            </a:r>
            <a:r>
              <a:rPr lang="en-US" altLang="ko-KR" sz="1800" dirty="0"/>
              <a:t>Autoencoder </a:t>
            </a:r>
            <a:r>
              <a:rPr lang="ko-KR" altLang="en-US" sz="1800" dirty="0"/>
              <a:t>네트워크에 로드</a:t>
            </a:r>
            <a:endParaRPr lang="en-US" altLang="ko-KR" sz="1800" dirty="0"/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56E963C2-0C25-9072-6FA2-8891895CEF8E}"/>
              </a:ext>
            </a:extLst>
          </p:cNvPr>
          <p:cNvSpPr txBox="1">
            <a:spLocks/>
          </p:cNvSpPr>
          <p:nvPr/>
        </p:nvSpPr>
        <p:spPr>
          <a:xfrm>
            <a:off x="589806" y="3989671"/>
            <a:ext cx="2830288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2. </a:t>
            </a:r>
            <a:r>
              <a:rPr lang="ko-KR" altLang="en-US" sz="1800" b="1" dirty="0"/>
              <a:t>정상 데이터 로딩</a:t>
            </a:r>
            <a:endParaRPr lang="en-US" altLang="ko-KR" sz="1800" b="1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6AF4313-1946-B778-39D7-D6151382E38A}"/>
              </a:ext>
            </a:extLst>
          </p:cNvPr>
          <p:cNvCxnSpPr>
            <a:cxnSpLocks/>
          </p:cNvCxnSpPr>
          <p:nvPr/>
        </p:nvCxnSpPr>
        <p:spPr>
          <a:xfrm>
            <a:off x="672936" y="3868942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E9BCCF17-8899-DD2C-E334-42740F647F8C}"/>
              </a:ext>
            </a:extLst>
          </p:cNvPr>
          <p:cNvSpPr txBox="1">
            <a:spLocks/>
          </p:cNvSpPr>
          <p:nvPr/>
        </p:nvSpPr>
        <p:spPr>
          <a:xfrm>
            <a:off x="3984169" y="3934428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dirty="0"/>
              <a:t>NORMAL_FILES </a:t>
            </a:r>
            <a:r>
              <a:rPr lang="ko-KR" altLang="en-US" sz="1800" dirty="0"/>
              <a:t>목록의 정상 데이터를 로드 및 </a:t>
            </a:r>
            <a:r>
              <a:rPr lang="ko-KR" altLang="en-US" sz="1800" dirty="0" err="1"/>
              <a:t>전처리</a:t>
            </a:r>
            <a:endParaRPr lang="en-US" altLang="ko-KR" sz="1800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D9BE251-1918-74B8-4AD8-FB433F0BE0F3}"/>
              </a:ext>
            </a:extLst>
          </p:cNvPr>
          <p:cNvCxnSpPr>
            <a:cxnSpLocks/>
          </p:cNvCxnSpPr>
          <p:nvPr/>
        </p:nvCxnSpPr>
        <p:spPr>
          <a:xfrm>
            <a:off x="672936" y="4413078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5C1BA73D-8BA6-DB60-F719-836E38E33D25}"/>
              </a:ext>
            </a:extLst>
          </p:cNvPr>
          <p:cNvSpPr txBox="1">
            <a:spLocks/>
          </p:cNvSpPr>
          <p:nvPr/>
        </p:nvSpPr>
        <p:spPr>
          <a:xfrm>
            <a:off x="589806" y="4516149"/>
            <a:ext cx="2830288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3. </a:t>
            </a:r>
            <a:r>
              <a:rPr lang="ko-KR" altLang="en-US" sz="1800" b="1" dirty="0" err="1"/>
              <a:t>임계값</a:t>
            </a:r>
            <a:r>
              <a:rPr lang="ko-KR" altLang="en-US" sz="1800" b="1" dirty="0"/>
              <a:t> 계산</a:t>
            </a:r>
            <a:r>
              <a:rPr lang="en-US" altLang="ko-KR" sz="1800" b="1" dirty="0"/>
              <a:t>(k-sigma)</a:t>
            </a:r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AAAEB075-215C-175E-4A36-B7BC96000C00}"/>
              </a:ext>
            </a:extLst>
          </p:cNvPr>
          <p:cNvSpPr txBox="1">
            <a:spLocks/>
          </p:cNvSpPr>
          <p:nvPr/>
        </p:nvSpPr>
        <p:spPr>
          <a:xfrm>
            <a:off x="3996044" y="4457107"/>
            <a:ext cx="7618025" cy="542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dirty="0"/>
              <a:t>재구성 오류들의 평균과 표준편차를 이용해 </a:t>
            </a:r>
            <a:r>
              <a:rPr lang="ko-KR" altLang="en-US" sz="1800" dirty="0" err="1"/>
              <a:t>임계값</a:t>
            </a:r>
            <a:r>
              <a:rPr lang="ko-KR" altLang="en-US" sz="1800" dirty="0"/>
              <a:t> </a:t>
            </a:r>
            <a:r>
              <a:rPr lang="en-US" altLang="ko-KR" sz="1800" dirty="0"/>
              <a:t>= </a:t>
            </a:r>
            <a:r>
              <a:rPr lang="ko-KR" altLang="en-US" sz="1800" dirty="0"/>
              <a:t>평균 </a:t>
            </a:r>
            <a:r>
              <a:rPr lang="en-US" altLang="ko-KR" sz="1800" dirty="0"/>
              <a:t>+ k * </a:t>
            </a:r>
            <a:r>
              <a:rPr lang="ko-KR" altLang="en-US" sz="1800" dirty="0"/>
              <a:t>표준 편차로 산출 </a:t>
            </a:r>
            <a:r>
              <a:rPr lang="en-US" altLang="ko-KR" sz="1800" dirty="0"/>
              <a:t>(</a:t>
            </a:r>
            <a:r>
              <a:rPr lang="ko-KR" altLang="en-US" sz="1800" dirty="0"/>
              <a:t>기본 </a:t>
            </a:r>
            <a:r>
              <a:rPr lang="en-US" altLang="ko-KR" sz="1800" dirty="0"/>
              <a:t>k = 3) 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61573C8-E62D-0DB8-CD2B-48A0039D2D0F}"/>
              </a:ext>
            </a:extLst>
          </p:cNvPr>
          <p:cNvCxnSpPr>
            <a:cxnSpLocks/>
          </p:cNvCxnSpPr>
          <p:nvPr/>
        </p:nvCxnSpPr>
        <p:spPr>
          <a:xfrm>
            <a:off x="672936" y="4990710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EEBE0440-203D-DEE9-ABF9-33719B400A47}"/>
              </a:ext>
            </a:extLst>
          </p:cNvPr>
          <p:cNvSpPr txBox="1">
            <a:spLocks/>
          </p:cNvSpPr>
          <p:nvPr/>
        </p:nvSpPr>
        <p:spPr>
          <a:xfrm>
            <a:off x="589805" y="5126125"/>
            <a:ext cx="3394363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4. </a:t>
            </a:r>
            <a:r>
              <a:rPr lang="ko-KR" altLang="en-US" sz="1800" b="1" dirty="0"/>
              <a:t>고장 데이터 판별</a:t>
            </a:r>
            <a:endParaRPr lang="en-US" altLang="ko-KR" sz="1800" b="1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43E37F37-9278-0850-B164-9D7590BD34DC}"/>
              </a:ext>
            </a:extLst>
          </p:cNvPr>
          <p:cNvSpPr txBox="1">
            <a:spLocks/>
          </p:cNvSpPr>
          <p:nvPr/>
        </p:nvSpPr>
        <p:spPr>
          <a:xfrm>
            <a:off x="3984169" y="5134941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dirty="0"/>
              <a:t>FAULTY_FILES </a:t>
            </a:r>
            <a:r>
              <a:rPr lang="ko-KR" altLang="en-US" sz="1800" dirty="0"/>
              <a:t>목록의 데이터를 재구성하고</a:t>
            </a:r>
            <a:r>
              <a:rPr lang="en-US" altLang="ko-KR" sz="1800" dirty="0"/>
              <a:t>, </a:t>
            </a:r>
            <a:r>
              <a:rPr lang="ko-KR" altLang="en-US" sz="1800" dirty="0"/>
              <a:t>오류를 기준으로 고장 여부 판별</a:t>
            </a:r>
            <a:endParaRPr lang="en-US" altLang="ko-KR" sz="1800" dirty="0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7FE51B9-F09F-E0CA-95EE-E47873EE8DDE}"/>
              </a:ext>
            </a:extLst>
          </p:cNvPr>
          <p:cNvCxnSpPr>
            <a:cxnSpLocks/>
          </p:cNvCxnSpPr>
          <p:nvPr/>
        </p:nvCxnSpPr>
        <p:spPr>
          <a:xfrm>
            <a:off x="672936" y="5668545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8FA777E2-B5EE-C20C-C890-D2D375533A11}"/>
              </a:ext>
            </a:extLst>
          </p:cNvPr>
          <p:cNvSpPr txBox="1">
            <a:spLocks/>
          </p:cNvSpPr>
          <p:nvPr/>
        </p:nvSpPr>
        <p:spPr>
          <a:xfrm>
            <a:off x="589805" y="5747976"/>
            <a:ext cx="307966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5. </a:t>
            </a:r>
            <a:r>
              <a:rPr lang="ko-KR" altLang="en-US" sz="1800" b="1" dirty="0"/>
              <a:t>고장 비율 기준 판정</a:t>
            </a:r>
            <a:endParaRPr lang="en-US" altLang="ko-KR" sz="1800" b="1" dirty="0"/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0666126A-4BD9-F4AB-C44D-33DA4157C149}"/>
              </a:ext>
            </a:extLst>
          </p:cNvPr>
          <p:cNvSpPr txBox="1">
            <a:spLocks/>
          </p:cNvSpPr>
          <p:nvPr/>
        </p:nvSpPr>
        <p:spPr>
          <a:xfrm>
            <a:off x="3996044" y="5772045"/>
            <a:ext cx="7428017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dirty="0"/>
              <a:t>파일별로 </a:t>
            </a:r>
            <a:r>
              <a:rPr lang="en-US" altLang="ko-KR" sz="1800" dirty="0"/>
              <a:t>50% </a:t>
            </a:r>
            <a:r>
              <a:rPr lang="ko-KR" altLang="en-US" sz="1800" dirty="0"/>
              <a:t>이상 고장 데이터 비율 시 고장으로 판정</a:t>
            </a:r>
            <a:endParaRPr lang="en-US" altLang="ko-KR" sz="18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6BE7C1E-CB81-0CC7-7C93-77A97E52B50D}"/>
              </a:ext>
            </a:extLst>
          </p:cNvPr>
          <p:cNvCxnSpPr>
            <a:cxnSpLocks/>
          </p:cNvCxnSpPr>
          <p:nvPr/>
        </p:nvCxnSpPr>
        <p:spPr>
          <a:xfrm>
            <a:off x="661060" y="6186896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5D3E130-5464-28D0-3DF5-76D21C11D081}"/>
              </a:ext>
            </a:extLst>
          </p:cNvPr>
          <p:cNvSpPr/>
          <p:nvPr/>
        </p:nvSpPr>
        <p:spPr>
          <a:xfrm>
            <a:off x="10153403" y="1464423"/>
            <a:ext cx="496786" cy="2751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1083EEB-04F8-6C32-E87E-A50F5946B6FB}"/>
              </a:ext>
            </a:extLst>
          </p:cNvPr>
          <p:cNvSpPr/>
          <p:nvPr/>
        </p:nvSpPr>
        <p:spPr>
          <a:xfrm>
            <a:off x="672936" y="1508167"/>
            <a:ext cx="1322119" cy="2076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7D8CFF8-AD42-60CD-D9B8-022B4802FB39}"/>
              </a:ext>
            </a:extLst>
          </p:cNvPr>
          <p:cNvSpPr txBox="1">
            <a:spLocks/>
          </p:cNvSpPr>
          <p:nvPr/>
        </p:nvSpPr>
        <p:spPr>
          <a:xfrm>
            <a:off x="447303" y="1460665"/>
            <a:ext cx="10774879" cy="11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 err="1"/>
              <a:t>wafer_data</a:t>
            </a:r>
            <a:r>
              <a:rPr lang="en-US" altLang="ko-KR" sz="1800" dirty="0"/>
              <a:t>/ </a:t>
            </a:r>
            <a:r>
              <a:rPr lang="ko-KR" altLang="en-US" sz="1800" dirty="0"/>
              <a:t>내 </a:t>
            </a:r>
            <a:r>
              <a:rPr lang="ko-KR" altLang="en-US" sz="1800" b="1" dirty="0"/>
              <a:t>정상 상태 데이터 파일을 기반으로 </a:t>
            </a:r>
            <a:r>
              <a:rPr lang="en-US" altLang="ko-KR" sz="1800" b="1" dirty="0"/>
              <a:t>Autoencoder</a:t>
            </a:r>
            <a:r>
              <a:rPr lang="ko-KR" altLang="en-US" sz="1800" b="1" dirty="0"/>
              <a:t>를 학습</a:t>
            </a:r>
            <a:r>
              <a:rPr lang="ko-KR" altLang="en-US" sz="1800" dirty="0"/>
              <a:t>하고 학습된 모델을 </a:t>
            </a:r>
            <a:r>
              <a:rPr lang="en-US" altLang="ko-KR" sz="1800" dirty="0"/>
              <a:t>.</a:t>
            </a:r>
            <a:r>
              <a:rPr lang="en-US" altLang="ko-KR" sz="1800" dirty="0" err="1"/>
              <a:t>pth</a:t>
            </a:r>
            <a:r>
              <a:rPr lang="ko-KR" altLang="en-US" sz="1800" dirty="0"/>
              <a:t> 파일로 저장하며</a:t>
            </a:r>
            <a:r>
              <a:rPr lang="en-US" altLang="ko-KR" sz="1800" dirty="0"/>
              <a:t>, </a:t>
            </a:r>
            <a:r>
              <a:rPr lang="ko-KR" altLang="en-US" sz="1800" dirty="0"/>
              <a:t>학습 </a:t>
            </a:r>
            <a:r>
              <a:rPr lang="en-US" altLang="ko-KR" sz="1800" dirty="0"/>
              <a:t>Loss </a:t>
            </a:r>
            <a:r>
              <a:rPr lang="ko-KR" altLang="en-US" sz="1800" dirty="0"/>
              <a:t>시각화 및 결과를 파일로 출력</a:t>
            </a:r>
            <a:endParaRPr lang="en-US" altLang="ko-KR" sz="1800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EC3B1B3-330C-89CE-E29E-CB483B778BE0}"/>
              </a:ext>
            </a:extLst>
          </p:cNvPr>
          <p:cNvSpPr/>
          <p:nvPr/>
        </p:nvSpPr>
        <p:spPr>
          <a:xfrm>
            <a:off x="1805046" y="1045884"/>
            <a:ext cx="1983184" cy="3426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4498A060-71E1-C1DB-E9F6-494067FC7A0F}"/>
              </a:ext>
            </a:extLst>
          </p:cNvPr>
          <p:cNvSpPr txBox="1">
            <a:spLocks/>
          </p:cNvSpPr>
          <p:nvPr/>
        </p:nvSpPr>
        <p:spPr>
          <a:xfrm>
            <a:off x="220683" y="1021279"/>
            <a:ext cx="6227618" cy="436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모델 학습 </a:t>
            </a:r>
            <a:r>
              <a:rPr lang="en-US" altLang="ko-KR" sz="2000" dirty="0"/>
              <a:t>train_autoenc.py</a:t>
            </a:r>
          </a:p>
        </p:txBody>
      </p:sp>
    </p:spTree>
    <p:extLst>
      <p:ext uri="{BB962C8B-B14F-4D97-AF65-F5344CB8AC3E}">
        <p14:creationId xmlns:p14="http://schemas.microsoft.com/office/powerpoint/2010/main" val="1523016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14010-0AEB-2081-2056-C003BE5EC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4C1D4DF-DD4F-4AFB-3C36-599C808ECECD}"/>
              </a:ext>
            </a:extLst>
          </p:cNvPr>
          <p:cNvSpPr/>
          <p:nvPr/>
        </p:nvSpPr>
        <p:spPr>
          <a:xfrm>
            <a:off x="10153403" y="1464423"/>
            <a:ext cx="496786" cy="2751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E2B8DCA-62CF-2B86-8887-E3C024BD19CD}"/>
              </a:ext>
            </a:extLst>
          </p:cNvPr>
          <p:cNvSpPr/>
          <p:nvPr/>
        </p:nvSpPr>
        <p:spPr>
          <a:xfrm>
            <a:off x="672936" y="1508167"/>
            <a:ext cx="1322119" cy="2076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4FD1761-9F46-1E09-ED51-DFB30232B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주요 스크립트 사용법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D6F08638-C6CF-0545-1005-71650D310A4B}"/>
              </a:ext>
            </a:extLst>
          </p:cNvPr>
          <p:cNvSpPr txBox="1">
            <a:spLocks/>
          </p:cNvSpPr>
          <p:nvPr/>
        </p:nvSpPr>
        <p:spPr>
          <a:xfrm>
            <a:off x="447303" y="1460665"/>
            <a:ext cx="10774879" cy="11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 err="1"/>
              <a:t>wafer_data</a:t>
            </a:r>
            <a:r>
              <a:rPr lang="en-US" altLang="ko-KR" sz="1800" dirty="0"/>
              <a:t>/ </a:t>
            </a:r>
            <a:r>
              <a:rPr lang="ko-KR" altLang="en-US" sz="1800" dirty="0"/>
              <a:t>내 </a:t>
            </a:r>
            <a:r>
              <a:rPr lang="ko-KR" altLang="en-US" sz="1800" b="1" dirty="0"/>
              <a:t>정상 상태 데이터 파일을 기반으로 </a:t>
            </a:r>
            <a:r>
              <a:rPr lang="en-US" altLang="ko-KR" sz="1800" b="1" dirty="0"/>
              <a:t>Autoencoder</a:t>
            </a:r>
            <a:r>
              <a:rPr lang="ko-KR" altLang="en-US" sz="1800" b="1" dirty="0"/>
              <a:t>를 학습</a:t>
            </a:r>
            <a:r>
              <a:rPr lang="ko-KR" altLang="en-US" sz="1800" dirty="0"/>
              <a:t>하고 학습된 모델을 </a:t>
            </a:r>
            <a:r>
              <a:rPr lang="en-US" altLang="ko-KR" sz="1800" dirty="0"/>
              <a:t>.</a:t>
            </a:r>
            <a:r>
              <a:rPr lang="en-US" altLang="ko-KR" sz="1800" dirty="0" err="1"/>
              <a:t>pth</a:t>
            </a:r>
            <a:r>
              <a:rPr lang="ko-KR" altLang="en-US" sz="1800" dirty="0"/>
              <a:t> 파일로 저장하며</a:t>
            </a:r>
            <a:r>
              <a:rPr lang="en-US" altLang="ko-KR" sz="1800" dirty="0"/>
              <a:t>, </a:t>
            </a:r>
            <a:r>
              <a:rPr lang="ko-KR" altLang="en-US" sz="1800" dirty="0"/>
              <a:t>학습 </a:t>
            </a:r>
            <a:r>
              <a:rPr lang="en-US" altLang="ko-KR" sz="1800" dirty="0"/>
              <a:t>Loss </a:t>
            </a:r>
            <a:r>
              <a:rPr lang="ko-KR" altLang="en-US" sz="1800" dirty="0"/>
              <a:t>시각화 및 결과를 파일로 출력</a:t>
            </a:r>
            <a:endParaRPr lang="en-US" altLang="ko-KR" sz="180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D87191DE-3E4B-F2D7-4578-789F8A9DD1EA}"/>
              </a:ext>
            </a:extLst>
          </p:cNvPr>
          <p:cNvSpPr txBox="1">
            <a:spLocks/>
          </p:cNvSpPr>
          <p:nvPr/>
        </p:nvSpPr>
        <p:spPr>
          <a:xfrm>
            <a:off x="220683" y="2235090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주요 차이점</a:t>
            </a:r>
            <a:r>
              <a:rPr lang="en-US" altLang="ko-KR" sz="2000" b="1" dirty="0"/>
              <a:t>(vs check_faulty_data.py)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8ECE46F-696E-D347-4B92-125627C1269E}"/>
              </a:ext>
            </a:extLst>
          </p:cNvPr>
          <p:cNvSpPr/>
          <p:nvPr/>
        </p:nvSpPr>
        <p:spPr>
          <a:xfrm>
            <a:off x="1805046" y="1045884"/>
            <a:ext cx="1983184" cy="3426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D4B7E6E-AAB0-ABC4-E165-FDEACD6514F5}"/>
              </a:ext>
            </a:extLst>
          </p:cNvPr>
          <p:cNvSpPr txBox="1">
            <a:spLocks/>
          </p:cNvSpPr>
          <p:nvPr/>
        </p:nvSpPr>
        <p:spPr>
          <a:xfrm>
            <a:off x="220683" y="1021279"/>
            <a:ext cx="6227618" cy="436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모델 학습 </a:t>
            </a:r>
            <a:r>
              <a:rPr lang="en-US" altLang="ko-KR" sz="2000" dirty="0"/>
              <a:t>train_autoenc.py</a:t>
            </a:r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D3CFE242-292A-C1DD-44A6-FD1E661F5AC9}"/>
              </a:ext>
            </a:extLst>
          </p:cNvPr>
          <p:cNvSpPr txBox="1">
            <a:spLocks/>
          </p:cNvSpPr>
          <p:nvPr/>
        </p:nvSpPr>
        <p:spPr>
          <a:xfrm>
            <a:off x="589807" y="2886580"/>
            <a:ext cx="185749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b="1" dirty="0"/>
              <a:t>항목</a:t>
            </a:r>
            <a:endParaRPr lang="en-US" altLang="ko-KR" sz="1800" b="1" dirty="0"/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84B662C8-85D9-3738-1F4C-6B1529CFB901}"/>
              </a:ext>
            </a:extLst>
          </p:cNvPr>
          <p:cNvSpPr txBox="1">
            <a:spLocks/>
          </p:cNvSpPr>
          <p:nvPr/>
        </p:nvSpPr>
        <p:spPr>
          <a:xfrm>
            <a:off x="3515096" y="2886580"/>
            <a:ext cx="2925288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check_faulty_data.py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B440C65-ACCC-B3DB-77AF-33A9A30FF59C}"/>
              </a:ext>
            </a:extLst>
          </p:cNvPr>
          <p:cNvCxnSpPr>
            <a:cxnSpLocks/>
          </p:cNvCxnSpPr>
          <p:nvPr/>
        </p:nvCxnSpPr>
        <p:spPr>
          <a:xfrm>
            <a:off x="672936" y="3313216"/>
            <a:ext cx="1060862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ECD7A5B6-D922-F15A-9303-F3C394158FBC}"/>
              </a:ext>
            </a:extLst>
          </p:cNvPr>
          <p:cNvSpPr txBox="1">
            <a:spLocks/>
          </p:cNvSpPr>
          <p:nvPr/>
        </p:nvSpPr>
        <p:spPr>
          <a:xfrm>
            <a:off x="589806" y="3444893"/>
            <a:ext cx="2925289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1. </a:t>
            </a:r>
            <a:r>
              <a:rPr lang="ko-KR" altLang="en-US" sz="1800" b="1" dirty="0" err="1"/>
              <a:t>임계값</a:t>
            </a:r>
            <a:r>
              <a:rPr lang="ko-KR" altLang="en-US" sz="1800" b="1" dirty="0"/>
              <a:t> 설정</a:t>
            </a:r>
            <a:endParaRPr lang="en-US" altLang="ko-KR" sz="1800" b="1" dirty="0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F180BA84-3C8D-4197-639A-E56672E9FF09}"/>
              </a:ext>
            </a:extLst>
          </p:cNvPr>
          <p:cNvSpPr txBox="1">
            <a:spLocks/>
          </p:cNvSpPr>
          <p:nvPr/>
        </p:nvSpPr>
        <p:spPr>
          <a:xfrm>
            <a:off x="3515095" y="3417451"/>
            <a:ext cx="3241965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dirty="0"/>
              <a:t>코드에 </a:t>
            </a:r>
            <a:r>
              <a:rPr lang="ko-KR" altLang="en-US" sz="1800" dirty="0" err="1"/>
              <a:t>고정값</a:t>
            </a:r>
            <a:r>
              <a:rPr lang="en-US" altLang="ko-KR" sz="1800" dirty="0"/>
              <a:t>(ex: 56250000) </a:t>
            </a:r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14B91B53-EE2C-0F0B-56D5-28419A7FD7C2}"/>
              </a:ext>
            </a:extLst>
          </p:cNvPr>
          <p:cNvSpPr txBox="1">
            <a:spLocks/>
          </p:cNvSpPr>
          <p:nvPr/>
        </p:nvSpPr>
        <p:spPr>
          <a:xfrm>
            <a:off x="589806" y="3989671"/>
            <a:ext cx="2830288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2. </a:t>
            </a:r>
            <a:r>
              <a:rPr lang="ko-KR" altLang="en-US" sz="1800" b="1" dirty="0"/>
              <a:t>판별 기준</a:t>
            </a:r>
            <a:endParaRPr lang="en-US" altLang="ko-KR" sz="1800" b="1" dirty="0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6F371B4-A709-373D-1B92-6CE0030AE261}"/>
              </a:ext>
            </a:extLst>
          </p:cNvPr>
          <p:cNvCxnSpPr>
            <a:cxnSpLocks/>
          </p:cNvCxnSpPr>
          <p:nvPr/>
        </p:nvCxnSpPr>
        <p:spPr>
          <a:xfrm>
            <a:off x="672936" y="3868942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99793E4-3D70-1DB5-1D5E-559D97194828}"/>
              </a:ext>
            </a:extLst>
          </p:cNvPr>
          <p:cNvCxnSpPr>
            <a:cxnSpLocks/>
          </p:cNvCxnSpPr>
          <p:nvPr/>
        </p:nvCxnSpPr>
        <p:spPr>
          <a:xfrm>
            <a:off x="672936" y="4413078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44F8ECDC-0681-21BD-4FE6-9BE34E481413}"/>
              </a:ext>
            </a:extLst>
          </p:cNvPr>
          <p:cNvSpPr txBox="1">
            <a:spLocks/>
          </p:cNvSpPr>
          <p:nvPr/>
        </p:nvSpPr>
        <p:spPr>
          <a:xfrm>
            <a:off x="589806" y="4516149"/>
            <a:ext cx="2830288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3. </a:t>
            </a:r>
            <a:r>
              <a:rPr lang="ko-KR" altLang="en-US" sz="1800" b="1" dirty="0"/>
              <a:t>고장 비율 기준</a:t>
            </a:r>
            <a:endParaRPr lang="en-US" altLang="ko-KR" sz="1800" b="1" dirty="0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3963538-18BB-BB91-F09C-B7F139D45D50}"/>
              </a:ext>
            </a:extLst>
          </p:cNvPr>
          <p:cNvCxnSpPr>
            <a:cxnSpLocks/>
          </p:cNvCxnSpPr>
          <p:nvPr/>
        </p:nvCxnSpPr>
        <p:spPr>
          <a:xfrm>
            <a:off x="672936" y="4990710"/>
            <a:ext cx="10608622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B28C1B20-019A-AC8A-E419-CCF17A4E4EE9}"/>
              </a:ext>
            </a:extLst>
          </p:cNvPr>
          <p:cNvSpPr txBox="1">
            <a:spLocks/>
          </p:cNvSpPr>
          <p:nvPr/>
        </p:nvSpPr>
        <p:spPr>
          <a:xfrm>
            <a:off x="7476508" y="2911490"/>
            <a:ext cx="2925288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check_faulty_data2.py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9BEA22-2A0C-419D-2FF8-CA98871C6C2C}"/>
              </a:ext>
            </a:extLst>
          </p:cNvPr>
          <p:cNvSpPr txBox="1"/>
          <p:nvPr/>
        </p:nvSpPr>
        <p:spPr>
          <a:xfrm>
            <a:off x="7499265" y="3374130"/>
            <a:ext cx="4199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정상 데이터 기반 </a:t>
            </a:r>
            <a:r>
              <a:rPr lang="en-US" altLang="ko-KR" sz="1800" dirty="0"/>
              <a:t>k-sigma </a:t>
            </a:r>
            <a:r>
              <a:rPr lang="ko-KR" altLang="en-US" sz="1800" dirty="0"/>
              <a:t>동적 계산</a:t>
            </a:r>
            <a:endParaRPr lang="ko-KR" altLang="en-US" dirty="0"/>
          </a:p>
        </p:txBody>
      </p:sp>
      <p:sp>
        <p:nvSpPr>
          <p:cNvPr id="43" name="내용 개체 틀 2">
            <a:extLst>
              <a:ext uri="{FF2B5EF4-FFF2-40B4-BE49-F238E27FC236}">
                <a16:creationId xmlns:a16="http://schemas.microsoft.com/office/drawing/2014/main" id="{6DB1EA44-F10A-ADCC-C59F-A19CF02F22F0}"/>
              </a:ext>
            </a:extLst>
          </p:cNvPr>
          <p:cNvSpPr txBox="1">
            <a:spLocks/>
          </p:cNvSpPr>
          <p:nvPr/>
        </p:nvSpPr>
        <p:spPr>
          <a:xfrm>
            <a:off x="3503224" y="4009635"/>
            <a:ext cx="3241965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dirty="0"/>
              <a:t>평균 오류 기반 판정</a:t>
            </a:r>
            <a:endParaRPr lang="en-US" altLang="ko-KR" sz="18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76BC73-6011-1AEA-18B0-52DB6BA1DB0D}"/>
              </a:ext>
            </a:extLst>
          </p:cNvPr>
          <p:cNvSpPr txBox="1"/>
          <p:nvPr/>
        </p:nvSpPr>
        <p:spPr>
          <a:xfrm>
            <a:off x="7487394" y="3966314"/>
            <a:ext cx="4199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데이터별 재구성 오류 비율 기준 판정</a:t>
            </a:r>
            <a:endParaRPr lang="ko-KR" altLang="en-US" dirty="0"/>
          </a:p>
        </p:txBody>
      </p:sp>
      <p:sp>
        <p:nvSpPr>
          <p:cNvPr id="45" name="내용 개체 틀 2">
            <a:extLst>
              <a:ext uri="{FF2B5EF4-FFF2-40B4-BE49-F238E27FC236}">
                <a16:creationId xmlns:a16="http://schemas.microsoft.com/office/drawing/2014/main" id="{6D228F16-31D0-4F2C-8BE5-24126EF14254}"/>
              </a:ext>
            </a:extLst>
          </p:cNvPr>
          <p:cNvSpPr txBox="1">
            <a:spLocks/>
          </p:cNvSpPr>
          <p:nvPr/>
        </p:nvSpPr>
        <p:spPr>
          <a:xfrm>
            <a:off x="3515095" y="4574769"/>
            <a:ext cx="3241965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800" dirty="0"/>
              <a:t>없음</a:t>
            </a:r>
            <a:r>
              <a:rPr lang="en-US" altLang="ko-KR" sz="1800" dirty="0"/>
              <a:t>(</a:t>
            </a:r>
            <a:r>
              <a:rPr lang="ko-KR" altLang="en-US" sz="1800" dirty="0"/>
              <a:t>평균 오류 </a:t>
            </a:r>
            <a:r>
              <a:rPr lang="en-US" altLang="ko-KR" sz="1800" dirty="0"/>
              <a:t>&gt; </a:t>
            </a:r>
            <a:r>
              <a:rPr lang="ko-KR" altLang="en-US" sz="1800" dirty="0" err="1"/>
              <a:t>임계값</a:t>
            </a:r>
            <a:r>
              <a:rPr lang="en-US" altLang="ko-KR" sz="1800" dirty="0"/>
              <a:t>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E027A21-B33D-DFC3-A354-4CFC3A84A9D5}"/>
              </a:ext>
            </a:extLst>
          </p:cNvPr>
          <p:cNvSpPr txBox="1"/>
          <p:nvPr/>
        </p:nvSpPr>
        <p:spPr>
          <a:xfrm>
            <a:off x="7499265" y="4531448"/>
            <a:ext cx="4199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고장 비율 </a:t>
            </a:r>
            <a:r>
              <a:rPr lang="en-US" altLang="ko-KR" sz="1800" dirty="0"/>
              <a:t>50% </a:t>
            </a:r>
            <a:r>
              <a:rPr lang="ko-KR" altLang="en-US" sz="1800" dirty="0"/>
              <a:t>초과시 고장으로 판단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584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9F7A2-9619-FEDF-DCE5-982DBE7A6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FBA9689-B4E8-1660-EDBF-EBF671C28EFA}"/>
              </a:ext>
            </a:extLst>
          </p:cNvPr>
          <p:cNvSpPr/>
          <p:nvPr/>
        </p:nvSpPr>
        <p:spPr>
          <a:xfrm>
            <a:off x="10153403" y="1464423"/>
            <a:ext cx="496786" cy="2751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E3D8CDB-73D2-956A-3450-28E0624A62A0}"/>
              </a:ext>
            </a:extLst>
          </p:cNvPr>
          <p:cNvSpPr/>
          <p:nvPr/>
        </p:nvSpPr>
        <p:spPr>
          <a:xfrm>
            <a:off x="672936" y="1508167"/>
            <a:ext cx="1322119" cy="2076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046DC0-1E8A-F6C8-D859-9374061F5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주요 스크립트 사용법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04581D6-D518-F5D1-FFD2-0E565D152B68}"/>
              </a:ext>
            </a:extLst>
          </p:cNvPr>
          <p:cNvGrpSpPr/>
          <p:nvPr/>
        </p:nvGrpSpPr>
        <p:grpSpPr>
          <a:xfrm>
            <a:off x="554676" y="2674477"/>
            <a:ext cx="10335491" cy="3167745"/>
            <a:chOff x="773380" y="2339438"/>
            <a:chExt cx="10335491" cy="3167745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32A3EBF1-9F7C-6EFF-6498-D9541DB585E9}"/>
                </a:ext>
              </a:extLst>
            </p:cNvPr>
            <p:cNvSpPr/>
            <p:nvPr/>
          </p:nvSpPr>
          <p:spPr>
            <a:xfrm>
              <a:off x="773380" y="2339438"/>
              <a:ext cx="10335491" cy="3167745"/>
            </a:xfrm>
            <a:prstGeom prst="roundRect">
              <a:avLst>
                <a:gd name="adj" fmla="val 580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8DBFD9E-DFF3-1FE7-6DB0-2A0E196C6881}"/>
                </a:ext>
              </a:extLst>
            </p:cNvPr>
            <p:cNvSpPr txBox="1"/>
            <p:nvPr/>
          </p:nvSpPr>
          <p:spPr>
            <a:xfrm>
              <a:off x="867889" y="2367862"/>
              <a:ext cx="8589817" cy="31393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[✅ </a:t>
              </a:r>
              <a:r>
                <a:rPr lang="ko-KR" altLang="en-US" dirty="0" err="1"/>
                <a:t>임계값</a:t>
              </a:r>
              <a:r>
                <a:rPr lang="ko-KR" altLang="en-US" dirty="0"/>
                <a:t> 설정</a:t>
              </a:r>
              <a:r>
                <a:rPr lang="en-US" altLang="ko-KR" dirty="0"/>
                <a:t>] </a:t>
              </a:r>
              <a:r>
                <a:rPr lang="ko-KR" altLang="en-US" dirty="0"/>
                <a:t>평균</a:t>
              </a:r>
              <a:r>
                <a:rPr lang="en-US" altLang="ko-KR" dirty="0"/>
                <a:t>: 112345.67, </a:t>
              </a:r>
              <a:r>
                <a:rPr lang="ko-KR" altLang="en-US" dirty="0"/>
                <a:t>표준편차</a:t>
              </a:r>
              <a:r>
                <a:rPr lang="en-US" altLang="ko-KR" dirty="0"/>
                <a:t>: 23456.78, </a:t>
              </a:r>
              <a:r>
                <a:rPr lang="ko-KR" altLang="en-US" dirty="0" err="1"/>
                <a:t>임계값</a:t>
              </a:r>
              <a:r>
                <a:rPr lang="ko-KR" altLang="en-US" dirty="0"/>
                <a:t> </a:t>
              </a:r>
              <a:r>
                <a:rPr lang="en-US" altLang="ko-KR" dirty="0"/>
                <a:t>(k=3): 182716.01</a:t>
              </a:r>
            </a:p>
            <a:p>
              <a:endParaRPr lang="en-US" altLang="ko-KR" dirty="0"/>
            </a:p>
            <a:p>
              <a:r>
                <a:rPr lang="ko-KR" altLang="en-US" dirty="0"/>
                <a:t>파일</a:t>
              </a:r>
              <a:r>
                <a:rPr lang="en-US" altLang="ko-KR" dirty="0"/>
                <a:t>: 260hz50per.txt</a:t>
              </a:r>
            </a:p>
            <a:p>
              <a:r>
                <a:rPr lang="en-US" altLang="ko-KR" dirty="0"/>
                <a:t> - </a:t>
              </a:r>
              <a:r>
                <a:rPr lang="ko-KR" altLang="en-US" dirty="0"/>
                <a:t>고장 데이터 비율</a:t>
              </a:r>
              <a:r>
                <a:rPr lang="en-US" altLang="ko-KR" dirty="0"/>
                <a:t>: 95.40%</a:t>
              </a:r>
            </a:p>
            <a:p>
              <a:r>
                <a:rPr lang="en-US" altLang="ko-KR" dirty="0"/>
                <a:t> - </a:t>
              </a:r>
              <a:r>
                <a:rPr lang="ko-KR" altLang="en-US" dirty="0"/>
                <a:t>평균 재구성 오류</a:t>
              </a:r>
              <a:r>
                <a:rPr lang="en-US" altLang="ko-KR" dirty="0"/>
                <a:t>: 523456.123456</a:t>
              </a:r>
            </a:p>
            <a:p>
              <a:r>
                <a:rPr lang="en-US" altLang="ko-KR" dirty="0"/>
                <a:t>⚠️ </a:t>
              </a:r>
              <a:r>
                <a:rPr lang="ko-KR" altLang="en-US" dirty="0"/>
                <a:t>경고</a:t>
              </a:r>
              <a:r>
                <a:rPr lang="en-US" altLang="ko-KR" dirty="0"/>
                <a:t>: 260hz50per.txt</a:t>
              </a:r>
              <a:r>
                <a:rPr lang="ko-KR" altLang="en-US" dirty="0"/>
                <a:t>은 고장 데이터입니다</a:t>
              </a:r>
              <a:r>
                <a:rPr lang="en-US" altLang="ko-KR" dirty="0"/>
                <a:t>!</a:t>
              </a:r>
            </a:p>
            <a:p>
              <a:endParaRPr lang="en-US" altLang="ko-KR" dirty="0"/>
            </a:p>
            <a:p>
              <a:r>
                <a:rPr lang="ko-KR" altLang="en-US" dirty="0"/>
                <a:t>파일</a:t>
              </a:r>
              <a:r>
                <a:rPr lang="en-US" altLang="ko-KR" dirty="0"/>
                <a:t>: 240.txt</a:t>
              </a:r>
            </a:p>
            <a:p>
              <a:r>
                <a:rPr lang="en-US" altLang="ko-KR" dirty="0"/>
                <a:t> - </a:t>
              </a:r>
              <a:r>
                <a:rPr lang="ko-KR" altLang="en-US" dirty="0"/>
                <a:t>고장 데이터 비율</a:t>
              </a:r>
              <a:r>
                <a:rPr lang="en-US" altLang="ko-KR" dirty="0"/>
                <a:t>: 10.50%</a:t>
              </a:r>
            </a:p>
            <a:p>
              <a:r>
                <a:rPr lang="en-US" altLang="ko-KR" dirty="0"/>
                <a:t> - </a:t>
              </a:r>
              <a:r>
                <a:rPr lang="ko-KR" altLang="en-US" dirty="0"/>
                <a:t>평균 재구성 오류</a:t>
              </a:r>
              <a:r>
                <a:rPr lang="en-US" altLang="ko-KR" dirty="0"/>
                <a:t>: 92345.678901</a:t>
              </a:r>
            </a:p>
            <a:p>
              <a:r>
                <a:rPr lang="en-US" altLang="ko-KR" dirty="0"/>
                <a:t>✅ </a:t>
              </a:r>
              <a:r>
                <a:rPr lang="ko-KR" altLang="en-US" dirty="0"/>
                <a:t>정상</a:t>
              </a:r>
              <a:r>
                <a:rPr lang="en-US" altLang="ko-KR" dirty="0"/>
                <a:t>: 240.txt</a:t>
              </a:r>
              <a:r>
                <a:rPr lang="ko-KR" altLang="en-US" dirty="0"/>
                <a:t>은 고장이 아닙니다</a:t>
              </a:r>
              <a:r>
                <a:rPr lang="en-US" altLang="ko-KR" dirty="0"/>
                <a:t>!</a:t>
              </a:r>
            </a:p>
          </p:txBody>
        </p:sp>
      </p:grp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BD1F5B22-40D3-6A5C-F467-AA5C0BC3EDCC}"/>
              </a:ext>
            </a:extLst>
          </p:cNvPr>
          <p:cNvSpPr txBox="1">
            <a:spLocks/>
          </p:cNvSpPr>
          <p:nvPr/>
        </p:nvSpPr>
        <p:spPr>
          <a:xfrm>
            <a:off x="447303" y="1460665"/>
            <a:ext cx="10774879" cy="11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ko-KR" sz="1800" dirty="0" err="1"/>
              <a:t>wafer_data</a:t>
            </a:r>
            <a:r>
              <a:rPr lang="en-US" altLang="ko-KR" sz="1800" dirty="0"/>
              <a:t>/ </a:t>
            </a:r>
            <a:r>
              <a:rPr lang="ko-KR" altLang="en-US" sz="1800" dirty="0"/>
              <a:t>내 </a:t>
            </a:r>
            <a:r>
              <a:rPr lang="ko-KR" altLang="en-US" sz="1800" b="1" dirty="0"/>
              <a:t>정상 상태 데이터 파일을 기반으로 </a:t>
            </a:r>
            <a:r>
              <a:rPr lang="en-US" altLang="ko-KR" sz="1800" b="1" dirty="0"/>
              <a:t>Autoencoder</a:t>
            </a:r>
            <a:r>
              <a:rPr lang="ko-KR" altLang="en-US" sz="1800" b="1" dirty="0"/>
              <a:t>를 학습</a:t>
            </a:r>
            <a:r>
              <a:rPr lang="ko-KR" altLang="en-US" sz="1800" dirty="0"/>
              <a:t>하고 학습된 모델을 </a:t>
            </a:r>
            <a:r>
              <a:rPr lang="en-US" altLang="ko-KR" sz="1800" dirty="0"/>
              <a:t>.</a:t>
            </a:r>
            <a:r>
              <a:rPr lang="en-US" altLang="ko-KR" sz="1800" dirty="0" err="1"/>
              <a:t>pth</a:t>
            </a:r>
            <a:r>
              <a:rPr lang="ko-KR" altLang="en-US" sz="1800" dirty="0"/>
              <a:t> 파일로 저장하며</a:t>
            </a:r>
            <a:r>
              <a:rPr lang="en-US" altLang="ko-KR" sz="1800" dirty="0"/>
              <a:t>, </a:t>
            </a:r>
            <a:r>
              <a:rPr lang="ko-KR" altLang="en-US" sz="1800" dirty="0"/>
              <a:t>학습 </a:t>
            </a:r>
            <a:r>
              <a:rPr lang="en-US" altLang="ko-KR" sz="1800" dirty="0"/>
              <a:t>Loss </a:t>
            </a:r>
            <a:r>
              <a:rPr lang="ko-KR" altLang="en-US" sz="1800" dirty="0"/>
              <a:t>시각화 및 결과를 파일로 출력</a:t>
            </a:r>
            <a:endParaRPr lang="en-US" altLang="ko-KR" sz="180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48D7FA7-5C84-8954-245C-6F2CC54D93CA}"/>
              </a:ext>
            </a:extLst>
          </p:cNvPr>
          <p:cNvSpPr txBox="1">
            <a:spLocks/>
          </p:cNvSpPr>
          <p:nvPr/>
        </p:nvSpPr>
        <p:spPr>
          <a:xfrm>
            <a:off x="220683" y="2235090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출력 예시</a:t>
            </a:r>
            <a:endParaRPr lang="en-US" altLang="ko-KR" sz="20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1F74790-5B2A-1F9A-7130-334196EE76E1}"/>
              </a:ext>
            </a:extLst>
          </p:cNvPr>
          <p:cNvSpPr/>
          <p:nvPr/>
        </p:nvSpPr>
        <p:spPr>
          <a:xfrm>
            <a:off x="1805046" y="1045884"/>
            <a:ext cx="1983184" cy="3426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D271A022-8295-6C1C-7A0B-2C9EDD526687}"/>
              </a:ext>
            </a:extLst>
          </p:cNvPr>
          <p:cNvSpPr txBox="1">
            <a:spLocks/>
          </p:cNvSpPr>
          <p:nvPr/>
        </p:nvSpPr>
        <p:spPr>
          <a:xfrm>
            <a:off x="220683" y="1021279"/>
            <a:ext cx="6227618" cy="436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b="1" dirty="0"/>
              <a:t> 모델 학습 </a:t>
            </a:r>
            <a:r>
              <a:rPr lang="en-US" altLang="ko-KR" sz="2000" dirty="0"/>
              <a:t>train_autoenc.py</a:t>
            </a:r>
          </a:p>
        </p:txBody>
      </p:sp>
    </p:spTree>
    <p:extLst>
      <p:ext uri="{BB962C8B-B14F-4D97-AF65-F5344CB8AC3E}">
        <p14:creationId xmlns:p14="http://schemas.microsoft.com/office/powerpoint/2010/main" val="3868502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21A2E-DC82-D24A-E90C-D4751CB01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3E23E-B76D-ECEA-F394-8EE9F8C41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파일 규격</a:t>
            </a:r>
            <a:r>
              <a:rPr lang="en-US" altLang="ko-KR" dirty="0"/>
              <a:t>(</a:t>
            </a:r>
            <a:r>
              <a:rPr lang="en-US" altLang="ko-KR" dirty="0" err="1"/>
              <a:t>wafer_data</a:t>
            </a:r>
            <a:r>
              <a:rPr lang="en-US" altLang="ko-KR" dirty="0"/>
              <a:t>/)</a:t>
            </a: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6243575-CDF2-EC26-9FEE-2CC5D94B81BC}"/>
              </a:ext>
            </a:extLst>
          </p:cNvPr>
          <p:cNvSpPr txBox="1">
            <a:spLocks/>
          </p:cNvSpPr>
          <p:nvPr/>
        </p:nvSpPr>
        <p:spPr>
          <a:xfrm>
            <a:off x="220683" y="1515368"/>
            <a:ext cx="4909457" cy="43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b="1" dirty="0"/>
              <a:t>🔹</a:t>
            </a:r>
            <a:r>
              <a:rPr lang="ko-KR" altLang="en-US" sz="2000" b="1" dirty="0"/>
              <a:t> </a:t>
            </a:r>
            <a:r>
              <a:rPr lang="ko-KR" altLang="en-US" sz="2000" dirty="0"/>
              <a:t>분석 컬럼</a:t>
            </a:r>
            <a:r>
              <a:rPr lang="en-US" altLang="ko-KR" sz="2000" dirty="0"/>
              <a:t>: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4FE6880-4702-A3F7-0F1A-539D990C617E}"/>
              </a:ext>
            </a:extLst>
          </p:cNvPr>
          <p:cNvSpPr/>
          <p:nvPr/>
        </p:nvSpPr>
        <p:spPr>
          <a:xfrm>
            <a:off x="3942607" y="1035273"/>
            <a:ext cx="178131" cy="34226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182E2F37-DBB8-DFF9-FF70-31F821B6450D}"/>
              </a:ext>
            </a:extLst>
          </p:cNvPr>
          <p:cNvSpPr txBox="1">
            <a:spLocks/>
          </p:cNvSpPr>
          <p:nvPr/>
        </p:nvSpPr>
        <p:spPr>
          <a:xfrm>
            <a:off x="220683" y="1021278"/>
            <a:ext cx="6227618" cy="795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dirty="0"/>
              <a:t>🔹</a:t>
            </a:r>
            <a:r>
              <a:rPr lang="ko-KR" altLang="en-US" sz="2000" dirty="0"/>
              <a:t> 형식</a:t>
            </a:r>
            <a:r>
              <a:rPr lang="en-US" altLang="ko-KR" sz="2000" dirty="0"/>
              <a:t>: CSV/ TXT( </a:t>
            </a:r>
            <a:r>
              <a:rPr lang="ko-KR" altLang="en-US" sz="2000" dirty="0" err="1"/>
              <a:t>구분자</a:t>
            </a:r>
            <a:r>
              <a:rPr lang="en-US" altLang="ko-KR" sz="2000" dirty="0"/>
              <a:t>: </a:t>
            </a:r>
            <a:r>
              <a:rPr lang="ko-KR" altLang="en-US" sz="2000" dirty="0"/>
              <a:t>콤마 </a:t>
            </a:r>
            <a:r>
              <a:rPr lang="en-US" altLang="ko-KR" sz="2000" dirty="0"/>
              <a:t>, )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12B3336-8912-B90E-38DC-B627E1F70A38}"/>
              </a:ext>
            </a:extLst>
          </p:cNvPr>
          <p:cNvSpPr txBox="1">
            <a:spLocks/>
          </p:cNvSpPr>
          <p:nvPr/>
        </p:nvSpPr>
        <p:spPr>
          <a:xfrm>
            <a:off x="566057" y="1906425"/>
            <a:ext cx="729840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Roll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D8F6A8C6-026F-89A0-D498-20520911242B}"/>
              </a:ext>
            </a:extLst>
          </p:cNvPr>
          <p:cNvSpPr txBox="1">
            <a:spLocks/>
          </p:cNvSpPr>
          <p:nvPr/>
        </p:nvSpPr>
        <p:spPr>
          <a:xfrm>
            <a:off x="1684435" y="1897645"/>
            <a:ext cx="729840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Pitch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633DEB1-FB40-02CF-0A3A-71A48C81E83C}"/>
              </a:ext>
            </a:extLst>
          </p:cNvPr>
          <p:cNvCxnSpPr>
            <a:cxnSpLocks/>
          </p:cNvCxnSpPr>
          <p:nvPr/>
        </p:nvCxnSpPr>
        <p:spPr>
          <a:xfrm>
            <a:off x="649185" y="2333061"/>
            <a:ext cx="1060862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998CDF55-60D3-EB58-D610-B200B6D2AB6B}"/>
              </a:ext>
            </a:extLst>
          </p:cNvPr>
          <p:cNvSpPr txBox="1">
            <a:spLocks/>
          </p:cNvSpPr>
          <p:nvPr/>
        </p:nvSpPr>
        <p:spPr>
          <a:xfrm>
            <a:off x="629390" y="2470891"/>
            <a:ext cx="5818911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ko-KR" altLang="en-US" sz="1800" dirty="0"/>
              <a:t>필요 없는 열</a:t>
            </a:r>
            <a:r>
              <a:rPr lang="en-US" altLang="ko-KR" sz="1800" dirty="0"/>
              <a:t>(ID,</a:t>
            </a:r>
            <a:r>
              <a:rPr lang="ko-KR" altLang="en-US" sz="1800" dirty="0"/>
              <a:t> 시간 등</a:t>
            </a:r>
            <a:r>
              <a:rPr lang="en-US" altLang="ko-KR" sz="1800" dirty="0"/>
              <a:t>)</a:t>
            </a:r>
            <a:r>
              <a:rPr lang="ko-KR" altLang="en-US" sz="1800" dirty="0"/>
              <a:t>은 자동으로 제거됨</a:t>
            </a:r>
            <a:endParaRPr lang="en-US" altLang="ko-KR" sz="1800" dirty="0"/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212311FD-44BE-B925-3232-7FC118640076}"/>
              </a:ext>
            </a:extLst>
          </p:cNvPr>
          <p:cNvSpPr txBox="1">
            <a:spLocks/>
          </p:cNvSpPr>
          <p:nvPr/>
        </p:nvSpPr>
        <p:spPr>
          <a:xfrm>
            <a:off x="2806283" y="1894367"/>
            <a:ext cx="729840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/>
              <a:t>Yaw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65B48C36-D718-AF5F-4F27-FC589190E11D}"/>
              </a:ext>
            </a:extLst>
          </p:cNvPr>
          <p:cNvSpPr txBox="1">
            <a:spLocks/>
          </p:cNvSpPr>
          <p:nvPr/>
        </p:nvSpPr>
        <p:spPr>
          <a:xfrm>
            <a:off x="3942607" y="1894550"/>
            <a:ext cx="729840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 err="1"/>
              <a:t>AccX</a:t>
            </a:r>
            <a:endParaRPr lang="en-US" altLang="ko-KR" sz="1800" b="1" dirty="0"/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759819F8-592B-F7AD-0BFE-B638160D9880}"/>
              </a:ext>
            </a:extLst>
          </p:cNvPr>
          <p:cNvSpPr txBox="1">
            <a:spLocks/>
          </p:cNvSpPr>
          <p:nvPr/>
        </p:nvSpPr>
        <p:spPr>
          <a:xfrm>
            <a:off x="5338698" y="1891272"/>
            <a:ext cx="871600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 err="1"/>
              <a:t>AccY</a:t>
            </a:r>
            <a:endParaRPr lang="en-US" altLang="ko-KR" sz="1800" b="1" dirty="0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3C535B8F-A832-8A3E-0194-0E9C46B23D72}"/>
              </a:ext>
            </a:extLst>
          </p:cNvPr>
          <p:cNvSpPr txBox="1">
            <a:spLocks/>
          </p:cNvSpPr>
          <p:nvPr/>
        </p:nvSpPr>
        <p:spPr>
          <a:xfrm>
            <a:off x="6691497" y="1891272"/>
            <a:ext cx="871600" cy="54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altLang="ko-KR" sz="1800" b="1" dirty="0" err="1"/>
              <a:t>AccZ</a:t>
            </a: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2999603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779F2-88AE-AFFF-8E52-76C5D6471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9031F7F-1287-C41C-84D1-3E9C5F9188ED}"/>
              </a:ext>
            </a:extLst>
          </p:cNvPr>
          <p:cNvSpPr/>
          <p:nvPr/>
        </p:nvSpPr>
        <p:spPr>
          <a:xfrm>
            <a:off x="5257800" y="4799907"/>
            <a:ext cx="1570512" cy="34501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4398850-B094-8F95-2580-AE2D05CC2207}"/>
              </a:ext>
            </a:extLst>
          </p:cNvPr>
          <p:cNvSpPr/>
          <p:nvPr/>
        </p:nvSpPr>
        <p:spPr>
          <a:xfrm>
            <a:off x="3895107" y="4794545"/>
            <a:ext cx="1270659" cy="35037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D046752-5928-0B50-5428-BEA952B7E77A}"/>
              </a:ext>
            </a:extLst>
          </p:cNvPr>
          <p:cNvSpPr/>
          <p:nvPr/>
        </p:nvSpPr>
        <p:spPr>
          <a:xfrm>
            <a:off x="762000" y="3845462"/>
            <a:ext cx="2183081" cy="3753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A430718-3B73-132F-B3C9-9B7845FC727D}"/>
              </a:ext>
            </a:extLst>
          </p:cNvPr>
          <p:cNvSpPr/>
          <p:nvPr/>
        </p:nvSpPr>
        <p:spPr>
          <a:xfrm>
            <a:off x="2848099" y="2405666"/>
            <a:ext cx="1379517" cy="29387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901F578-81CC-64AF-1E46-B0A1B30DF68B}"/>
              </a:ext>
            </a:extLst>
          </p:cNvPr>
          <p:cNvSpPr/>
          <p:nvPr/>
        </p:nvSpPr>
        <p:spPr>
          <a:xfrm>
            <a:off x="1140031" y="2412618"/>
            <a:ext cx="1591294" cy="28692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DFF3637-EB19-0B53-A48A-5AE1ACB60FB8}"/>
              </a:ext>
            </a:extLst>
          </p:cNvPr>
          <p:cNvSpPr/>
          <p:nvPr/>
        </p:nvSpPr>
        <p:spPr>
          <a:xfrm>
            <a:off x="762000" y="1415086"/>
            <a:ext cx="1233055" cy="2712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4D72F59-E2CE-94D5-F3CB-0CF68117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사용시 참고사항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DE91BE9-8046-A099-A154-D5F67C34F5F3}"/>
              </a:ext>
            </a:extLst>
          </p:cNvPr>
          <p:cNvSpPr txBox="1">
            <a:spLocks/>
          </p:cNvSpPr>
          <p:nvPr/>
        </p:nvSpPr>
        <p:spPr>
          <a:xfrm>
            <a:off x="220683" y="3043219"/>
            <a:ext cx="8816439" cy="4393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b="1" dirty="0"/>
              <a:t>🔹</a:t>
            </a:r>
            <a:r>
              <a:rPr lang="ko-KR" altLang="en-US" sz="2000" b="1" dirty="0"/>
              <a:t> 판정 기준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임계값</a:t>
            </a:r>
            <a:r>
              <a:rPr lang="ko-KR" altLang="en-US" sz="2000" b="1" dirty="0"/>
              <a:t> 설정</a:t>
            </a:r>
            <a:r>
              <a:rPr lang="en-US" altLang="ko-KR" sz="2000" b="1" dirty="0"/>
              <a:t>:THRESHOLD)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19CC1E8-285D-D5C2-DFB1-AB0FCAC802AB}"/>
              </a:ext>
            </a:extLst>
          </p:cNvPr>
          <p:cNvSpPr txBox="1">
            <a:spLocks/>
          </p:cNvSpPr>
          <p:nvPr/>
        </p:nvSpPr>
        <p:spPr>
          <a:xfrm>
            <a:off x="220683" y="1021279"/>
            <a:ext cx="7177644" cy="4393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b="1" dirty="0"/>
              <a:t>🔹</a:t>
            </a:r>
            <a:r>
              <a:rPr lang="ko-KR" altLang="en-US" sz="2000" b="1" dirty="0"/>
              <a:t> 데이터 처리 관련</a:t>
            </a:r>
            <a:endParaRPr lang="en-US" altLang="ko-KR" sz="2000" b="1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83C28AD-6984-C808-DBF7-34FF5AA253EA}"/>
              </a:ext>
            </a:extLst>
          </p:cNvPr>
          <p:cNvSpPr txBox="1">
            <a:spLocks/>
          </p:cNvSpPr>
          <p:nvPr/>
        </p:nvSpPr>
        <p:spPr>
          <a:xfrm>
            <a:off x="475011" y="1415087"/>
            <a:ext cx="11103431" cy="665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ko-KR" sz="1800" dirty="0" err="1"/>
              <a:t>wafer_data</a:t>
            </a:r>
            <a:r>
              <a:rPr lang="en-US" altLang="ko-KR" sz="1800" dirty="0"/>
              <a:t>/ </a:t>
            </a:r>
            <a:r>
              <a:rPr lang="ko-KR" altLang="en-US" sz="1800" dirty="0"/>
              <a:t>폴더 내 </a:t>
            </a:r>
            <a:r>
              <a:rPr lang="ko-KR" altLang="en-US" sz="1800" b="1" dirty="0"/>
              <a:t>데이터 파일들은 코드 내 지정된 목록</a:t>
            </a:r>
            <a:r>
              <a:rPr lang="en-US" altLang="ko-KR" sz="1800" b="1" dirty="0"/>
              <a:t>(NORMAL_FILES, FAULTY_FILES)</a:t>
            </a:r>
            <a:r>
              <a:rPr lang="ko-KR" altLang="en-US" sz="1800" b="1" dirty="0"/>
              <a:t>를 기준으로 불러옴</a:t>
            </a:r>
            <a:endParaRPr lang="en-US" altLang="ko-KR" sz="1800" b="1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E2A67A0-5C0F-BA2C-0B88-DAD208C40FAE}"/>
              </a:ext>
            </a:extLst>
          </p:cNvPr>
          <p:cNvSpPr txBox="1">
            <a:spLocks/>
          </p:cNvSpPr>
          <p:nvPr/>
        </p:nvSpPr>
        <p:spPr>
          <a:xfrm>
            <a:off x="475011" y="2004897"/>
            <a:ext cx="11103431" cy="469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ko-KR" altLang="en-US" sz="1800" b="1" dirty="0"/>
              <a:t>신규 파일 추가 시 코드 내 리스트를 직접 수정</a:t>
            </a:r>
            <a:r>
              <a:rPr lang="ko-KR" altLang="en-US" sz="1800" dirty="0"/>
              <a:t>해야 분석 대상에 포함됨</a:t>
            </a:r>
            <a:endParaRPr lang="en-US" altLang="ko-KR" sz="1800" b="1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22B5517A-004F-5D77-7153-0B8B2759B3B8}"/>
              </a:ext>
            </a:extLst>
          </p:cNvPr>
          <p:cNvSpPr txBox="1">
            <a:spLocks/>
          </p:cNvSpPr>
          <p:nvPr/>
        </p:nvSpPr>
        <p:spPr>
          <a:xfrm>
            <a:off x="475010" y="2412618"/>
            <a:ext cx="11103431" cy="469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ko-KR" altLang="en-US" sz="1800" dirty="0"/>
              <a:t>예</a:t>
            </a:r>
            <a:r>
              <a:rPr lang="en-US" altLang="ko-KR" sz="1800" dirty="0"/>
              <a:t>: NORMAL_FILES,</a:t>
            </a:r>
            <a:r>
              <a:rPr lang="ko-KR" altLang="en-US" sz="1800" dirty="0"/>
              <a:t> </a:t>
            </a:r>
            <a:r>
              <a:rPr lang="en-US" altLang="ko-KR" sz="1800" dirty="0"/>
              <a:t>FAULTY_FILES</a:t>
            </a:r>
            <a:r>
              <a:rPr lang="ko-KR" altLang="en-US" sz="1800" dirty="0"/>
              <a:t> 목록 추가</a:t>
            </a:r>
            <a:endParaRPr lang="en-US" altLang="ko-KR" sz="1800" dirty="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346B2F04-43B9-B4A6-58CD-7948922A856A}"/>
              </a:ext>
            </a:extLst>
          </p:cNvPr>
          <p:cNvSpPr txBox="1">
            <a:spLocks/>
          </p:cNvSpPr>
          <p:nvPr/>
        </p:nvSpPr>
        <p:spPr>
          <a:xfrm>
            <a:off x="475010" y="3409014"/>
            <a:ext cx="11103431" cy="469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ko-KR" altLang="en-US" sz="1800" dirty="0"/>
              <a:t>기본</a:t>
            </a:r>
            <a:r>
              <a:rPr lang="en-US" altLang="ko-KR" sz="1800" dirty="0"/>
              <a:t> </a:t>
            </a:r>
            <a:r>
              <a:rPr lang="ko-KR" altLang="en-US" sz="1800" dirty="0"/>
              <a:t>판정 기준은 재구성 오류</a:t>
            </a:r>
            <a:r>
              <a:rPr lang="en-US" altLang="ko-KR" sz="1800" dirty="0"/>
              <a:t>(Mean Squared Error, L1Loss </a:t>
            </a:r>
            <a:r>
              <a:rPr lang="ko-KR" altLang="en-US" sz="1800" dirty="0"/>
              <a:t>등</a:t>
            </a:r>
            <a:r>
              <a:rPr lang="en-US" altLang="ko-KR" sz="1800" dirty="0"/>
              <a:t>)</a:t>
            </a:r>
            <a:r>
              <a:rPr lang="ko-KR" altLang="en-US" sz="1800" dirty="0"/>
              <a:t>을 기반으로 동작</a:t>
            </a:r>
            <a:endParaRPr lang="en-US" altLang="ko-KR" sz="1800" b="1" dirty="0"/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3B9FAF44-4426-7DE1-F1EB-F3F6B00DDF05}"/>
              </a:ext>
            </a:extLst>
          </p:cNvPr>
          <p:cNvSpPr txBox="1">
            <a:spLocks/>
          </p:cNvSpPr>
          <p:nvPr/>
        </p:nvSpPr>
        <p:spPr>
          <a:xfrm>
            <a:off x="475009" y="3844748"/>
            <a:ext cx="11103431" cy="469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ko-KR" sz="1800" dirty="0"/>
              <a:t>check_faulty_data.py :  </a:t>
            </a:r>
            <a:r>
              <a:rPr lang="ko-KR" altLang="en-US" sz="1800" dirty="0"/>
              <a:t>고정 </a:t>
            </a:r>
            <a:r>
              <a:rPr lang="ko-KR" altLang="en-US" sz="1800" dirty="0" err="1"/>
              <a:t>임계값</a:t>
            </a:r>
            <a:r>
              <a:rPr lang="en-US" altLang="ko-KR" sz="1800" dirty="0"/>
              <a:t>(THRESHOLD)</a:t>
            </a:r>
            <a:r>
              <a:rPr lang="ko-KR" altLang="en-US" sz="1800" dirty="0"/>
              <a:t>를 코드내 수치로 지정</a:t>
            </a:r>
            <a:endParaRPr lang="en-US" altLang="ko-KR" sz="1800" b="1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996FDC1-B47B-B073-34F2-014B8935B1AE}"/>
              </a:ext>
            </a:extLst>
          </p:cNvPr>
          <p:cNvSpPr/>
          <p:nvPr/>
        </p:nvSpPr>
        <p:spPr>
          <a:xfrm>
            <a:off x="762000" y="4314478"/>
            <a:ext cx="2311400" cy="34205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68AAB411-670E-EE28-285B-A7F0EC8692D8}"/>
              </a:ext>
            </a:extLst>
          </p:cNvPr>
          <p:cNvSpPr txBox="1">
            <a:spLocks/>
          </p:cNvSpPr>
          <p:nvPr/>
        </p:nvSpPr>
        <p:spPr>
          <a:xfrm>
            <a:off x="475009" y="4313764"/>
            <a:ext cx="11103431" cy="469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ko-KR" sz="1800" dirty="0"/>
              <a:t>check_faulty_data2.py :  </a:t>
            </a:r>
            <a:r>
              <a:rPr lang="ko-KR" altLang="en-US" sz="1800" dirty="0"/>
              <a:t>정상 데이터를 이용한 </a:t>
            </a:r>
            <a:r>
              <a:rPr lang="en-US" altLang="ko-KR" sz="1800" dirty="0"/>
              <a:t>k-sigma </a:t>
            </a:r>
            <a:r>
              <a:rPr lang="ko-KR" altLang="en-US" sz="1800" dirty="0"/>
              <a:t>방식</a:t>
            </a:r>
            <a:r>
              <a:rPr lang="en-US" altLang="ko-KR" sz="1800" dirty="0"/>
              <a:t>(3</a:t>
            </a:r>
            <a:r>
              <a:rPr lang="el-GR" altLang="ko-KR" sz="1800" dirty="0"/>
              <a:t>σ</a:t>
            </a:r>
            <a:r>
              <a:rPr lang="en-US" altLang="ko-KR" sz="1800" dirty="0"/>
              <a:t> </a:t>
            </a:r>
            <a:r>
              <a:rPr lang="ko-KR" altLang="en-US" sz="1800" dirty="0"/>
              <a:t>등</a:t>
            </a:r>
            <a:r>
              <a:rPr lang="en-US" altLang="ko-KR" sz="1800" dirty="0"/>
              <a:t>) </a:t>
            </a:r>
            <a:r>
              <a:rPr lang="ko-KR" altLang="en-US" sz="1800" dirty="0"/>
              <a:t>으로 동적 </a:t>
            </a:r>
            <a:r>
              <a:rPr lang="ko-KR" altLang="en-US" sz="1800" dirty="0" err="1"/>
              <a:t>임계값</a:t>
            </a:r>
            <a:r>
              <a:rPr lang="ko-KR" altLang="en-US" sz="1800" dirty="0"/>
              <a:t> 계산</a:t>
            </a:r>
            <a:endParaRPr lang="en-US" altLang="ko-KR" sz="1800" b="1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7CC45DDA-A58A-3A1E-93FD-0BCDBCA0E4AB}"/>
              </a:ext>
            </a:extLst>
          </p:cNvPr>
          <p:cNvSpPr txBox="1">
            <a:spLocks/>
          </p:cNvSpPr>
          <p:nvPr/>
        </p:nvSpPr>
        <p:spPr>
          <a:xfrm>
            <a:off x="475008" y="4785869"/>
            <a:ext cx="11103431" cy="469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ko-KR" altLang="en-US" sz="1800" dirty="0"/>
              <a:t>판정 기준 변경이 필요하다면</a:t>
            </a:r>
            <a:r>
              <a:rPr lang="en-US" altLang="ko-KR" sz="1800" dirty="0"/>
              <a:t>: THRESHOLD, THRESHOLD_K </a:t>
            </a:r>
            <a:r>
              <a:rPr lang="ko-KR" altLang="en-US" sz="1800" dirty="0"/>
              <a:t>값 변경 가능</a:t>
            </a:r>
            <a:endParaRPr lang="en-US" altLang="ko-KR" sz="1800" b="1" dirty="0"/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88CEBBC7-AF48-9A85-2985-B0C3BCB2A58F}"/>
              </a:ext>
            </a:extLst>
          </p:cNvPr>
          <p:cNvSpPr txBox="1">
            <a:spLocks/>
          </p:cNvSpPr>
          <p:nvPr/>
        </p:nvSpPr>
        <p:spPr>
          <a:xfrm>
            <a:off x="475007" y="5221603"/>
            <a:ext cx="11103431" cy="469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ko-KR" altLang="en-US" sz="1800" dirty="0"/>
              <a:t>고장 판별 기준</a:t>
            </a:r>
            <a:r>
              <a:rPr lang="en-US" altLang="ko-KR" sz="1800" dirty="0"/>
              <a:t>(</a:t>
            </a:r>
            <a:r>
              <a:rPr lang="ko-KR" altLang="en-US" sz="1800" dirty="0"/>
              <a:t>고장 비율 </a:t>
            </a:r>
            <a:r>
              <a:rPr lang="en-US" altLang="ko-KR" sz="1800" dirty="0"/>
              <a:t>50% </a:t>
            </a:r>
            <a:r>
              <a:rPr lang="ko-KR" altLang="en-US" sz="1800" dirty="0"/>
              <a:t>등</a:t>
            </a:r>
            <a:r>
              <a:rPr lang="en-US" altLang="ko-KR" sz="1800" dirty="0"/>
              <a:t>)</a:t>
            </a:r>
            <a:r>
              <a:rPr lang="ko-KR" altLang="en-US" sz="1800" dirty="0"/>
              <a:t>도 코드 내에서 수정 가능</a:t>
            </a: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2564948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336CF-775C-89E8-B21C-090F71E33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10422F7-F745-94C0-C750-C9CDAB5DBC53}"/>
              </a:ext>
            </a:extLst>
          </p:cNvPr>
          <p:cNvSpPr/>
          <p:nvPr/>
        </p:nvSpPr>
        <p:spPr>
          <a:xfrm>
            <a:off x="2949533" y="4682573"/>
            <a:ext cx="2418114" cy="2456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45C0A0A-9434-915F-AE87-1BCC7F69EF19}"/>
              </a:ext>
            </a:extLst>
          </p:cNvPr>
          <p:cNvSpPr/>
          <p:nvPr/>
        </p:nvSpPr>
        <p:spPr>
          <a:xfrm>
            <a:off x="1871353" y="2043481"/>
            <a:ext cx="1679369" cy="26921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E2ADA41-E7AC-274A-D70B-830CD2D2BE50}"/>
              </a:ext>
            </a:extLst>
          </p:cNvPr>
          <p:cNvSpPr/>
          <p:nvPr/>
        </p:nvSpPr>
        <p:spPr>
          <a:xfrm>
            <a:off x="6446323" y="2426895"/>
            <a:ext cx="2270165" cy="26501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C965D3D-91EF-1FF1-C1D4-3EC3E3F0A502}"/>
              </a:ext>
            </a:extLst>
          </p:cNvPr>
          <p:cNvSpPr/>
          <p:nvPr/>
        </p:nvSpPr>
        <p:spPr>
          <a:xfrm>
            <a:off x="4191990" y="2433847"/>
            <a:ext cx="2161309" cy="30500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1083558-20CF-5A35-B0EF-FC8DB9B365B7}"/>
              </a:ext>
            </a:extLst>
          </p:cNvPr>
          <p:cNvSpPr/>
          <p:nvPr/>
        </p:nvSpPr>
        <p:spPr>
          <a:xfrm>
            <a:off x="6675911" y="1451318"/>
            <a:ext cx="1719944" cy="28863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DEECDF-E9EA-BB16-55AD-014B7712F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사용시 참고사항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6C76844-DF95-81E3-3511-D901C4BD1037}"/>
              </a:ext>
            </a:extLst>
          </p:cNvPr>
          <p:cNvSpPr txBox="1">
            <a:spLocks/>
          </p:cNvSpPr>
          <p:nvPr/>
        </p:nvSpPr>
        <p:spPr>
          <a:xfrm>
            <a:off x="220683" y="3043219"/>
            <a:ext cx="8816439" cy="4393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b="1" dirty="0"/>
              <a:t>🔹</a:t>
            </a:r>
            <a:r>
              <a:rPr lang="ko-KR" altLang="en-US" sz="2000" b="1" dirty="0"/>
              <a:t> 결과 출력 및 로그 활용</a:t>
            </a:r>
            <a:endParaRPr lang="en-US" altLang="ko-KR" sz="2000" b="1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5B302F9-B5C1-EE59-9FAF-CB67ECCF96E9}"/>
              </a:ext>
            </a:extLst>
          </p:cNvPr>
          <p:cNvSpPr txBox="1">
            <a:spLocks/>
          </p:cNvSpPr>
          <p:nvPr/>
        </p:nvSpPr>
        <p:spPr>
          <a:xfrm>
            <a:off x="220683" y="1021279"/>
            <a:ext cx="7177644" cy="4393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b="1" dirty="0"/>
              <a:t>🔹</a:t>
            </a:r>
            <a:r>
              <a:rPr lang="ko-KR" altLang="en-US" sz="2000" b="1" dirty="0"/>
              <a:t> 모델 </a:t>
            </a:r>
            <a:r>
              <a:rPr lang="ko-KR" altLang="en-US" sz="2000" b="1" dirty="0" err="1"/>
              <a:t>재학습</a:t>
            </a:r>
            <a:r>
              <a:rPr lang="ko-KR" altLang="en-US" sz="2000" b="1" dirty="0"/>
              <a:t> 필수 상황</a:t>
            </a:r>
            <a:endParaRPr lang="en-US" altLang="ko-KR" sz="2000" b="1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52A063D-98E6-C121-E051-3A6182A59150}"/>
              </a:ext>
            </a:extLst>
          </p:cNvPr>
          <p:cNvSpPr txBox="1">
            <a:spLocks/>
          </p:cNvSpPr>
          <p:nvPr/>
        </p:nvSpPr>
        <p:spPr>
          <a:xfrm>
            <a:off x="475011" y="1415088"/>
            <a:ext cx="11103431" cy="635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ko-KR" sz="1800" b="1" dirty="0" err="1"/>
              <a:t>Wafer_data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정상 데이터에 변경</a:t>
            </a:r>
            <a:r>
              <a:rPr lang="en-US" altLang="ko-KR" sz="1800" b="1" dirty="0"/>
              <a:t>/</a:t>
            </a:r>
            <a:r>
              <a:rPr lang="ko-KR" altLang="en-US" sz="1800" b="1" dirty="0"/>
              <a:t>추가가 발생하면 반드시 </a:t>
            </a:r>
            <a:r>
              <a:rPr lang="en-US" altLang="ko-KR" sz="1800" dirty="0"/>
              <a:t>train_autoenc.py</a:t>
            </a:r>
            <a:r>
              <a:rPr lang="ko-KR" altLang="en-US" sz="1800" b="1" dirty="0"/>
              <a:t>로 </a:t>
            </a:r>
            <a:r>
              <a:rPr lang="en-US" altLang="ko-KR" sz="1800" b="1" dirty="0"/>
              <a:t>Autoencoder</a:t>
            </a:r>
            <a:r>
              <a:rPr lang="ko-KR" altLang="en-US" sz="1800" b="1" dirty="0"/>
              <a:t>를 재학습해야 함</a:t>
            </a:r>
            <a:endParaRPr lang="en-US" altLang="ko-KR" sz="1800" b="1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0EE0C1B0-2137-6734-88DD-299D0CEA4147}"/>
              </a:ext>
            </a:extLst>
          </p:cNvPr>
          <p:cNvSpPr txBox="1">
            <a:spLocks/>
          </p:cNvSpPr>
          <p:nvPr/>
        </p:nvSpPr>
        <p:spPr>
          <a:xfrm>
            <a:off x="475011" y="2004897"/>
            <a:ext cx="11103431" cy="469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ko-KR" altLang="en-US" sz="1800" dirty="0"/>
              <a:t>기존 모델</a:t>
            </a:r>
            <a:r>
              <a:rPr lang="en-US" altLang="ko-KR" sz="1800" dirty="0"/>
              <a:t>(</a:t>
            </a:r>
            <a:r>
              <a:rPr lang="en-US" altLang="ko-KR" sz="1800" dirty="0" err="1"/>
              <a:t>autoencoder.pth</a:t>
            </a:r>
            <a:r>
              <a:rPr lang="en-US" altLang="ko-KR" sz="1800" dirty="0"/>
              <a:t>)</a:t>
            </a:r>
            <a:r>
              <a:rPr lang="ko-KR" altLang="en-US" sz="1800" dirty="0"/>
              <a:t>는 이전 데이터 기준이므로 최신 데이터 반영 필요</a:t>
            </a:r>
            <a:endParaRPr lang="en-US" altLang="ko-KR" sz="1800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57C07C07-C75D-E16A-FFC0-CE2E718B4388}"/>
              </a:ext>
            </a:extLst>
          </p:cNvPr>
          <p:cNvSpPr txBox="1">
            <a:spLocks/>
          </p:cNvSpPr>
          <p:nvPr/>
        </p:nvSpPr>
        <p:spPr>
          <a:xfrm>
            <a:off x="475010" y="2412618"/>
            <a:ext cx="11103431" cy="469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ko-KR" altLang="en-US" sz="1800" dirty="0" err="1"/>
              <a:t>재학습</a:t>
            </a:r>
            <a:r>
              <a:rPr lang="ko-KR" altLang="en-US" sz="1800" dirty="0"/>
              <a:t> 후 결과 모델 파일</a:t>
            </a:r>
            <a:r>
              <a:rPr lang="en-US" altLang="ko-KR" sz="1800" dirty="0"/>
              <a:t>(.</a:t>
            </a:r>
            <a:r>
              <a:rPr lang="en-US" altLang="ko-KR" sz="1800" dirty="0" err="1"/>
              <a:t>pth</a:t>
            </a:r>
            <a:r>
              <a:rPr lang="en-US" altLang="ko-KR" sz="1800" dirty="0"/>
              <a:t>)</a:t>
            </a:r>
            <a:r>
              <a:rPr lang="ko-KR" altLang="en-US" sz="1800" dirty="0"/>
              <a:t>는 </a:t>
            </a:r>
            <a:r>
              <a:rPr lang="en-US" altLang="ko-KR" sz="1800" dirty="0"/>
              <a:t>check_faulty_data.py, check_faulty_data2.py </a:t>
            </a:r>
            <a:r>
              <a:rPr lang="ko-KR" altLang="en-US" sz="1800" dirty="0"/>
              <a:t>에서 활용됨</a:t>
            </a:r>
            <a:endParaRPr lang="en-US" altLang="ko-KR" sz="1800" dirty="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072BCE48-57D6-D704-A255-7134F16A8E47}"/>
              </a:ext>
            </a:extLst>
          </p:cNvPr>
          <p:cNvSpPr txBox="1">
            <a:spLocks/>
          </p:cNvSpPr>
          <p:nvPr/>
        </p:nvSpPr>
        <p:spPr>
          <a:xfrm>
            <a:off x="475010" y="3409014"/>
            <a:ext cx="11103431" cy="469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ko-KR" altLang="en-US" sz="1800" dirty="0"/>
              <a:t>현재 결과는 </a:t>
            </a:r>
            <a:r>
              <a:rPr lang="ko-KR" altLang="en-US" sz="1800" b="1" dirty="0"/>
              <a:t>터미널 표준 출력</a:t>
            </a:r>
            <a:r>
              <a:rPr lang="en-US" altLang="ko-KR" sz="1800" b="1" dirty="0"/>
              <a:t>(</a:t>
            </a:r>
            <a:r>
              <a:rPr lang="en-US" altLang="ko-KR" sz="1800" b="1" dirty="0" err="1"/>
              <a:t>stdout</a:t>
            </a:r>
            <a:r>
              <a:rPr lang="en-US" altLang="ko-KR" sz="1800" b="1" dirty="0"/>
              <a:t>)</a:t>
            </a:r>
            <a:r>
              <a:rPr lang="en-US" altLang="ko-KR" sz="1800" dirty="0"/>
              <a:t> </a:t>
            </a:r>
            <a:r>
              <a:rPr lang="ko-KR" altLang="en-US" sz="1800" dirty="0"/>
              <a:t>형태로 제공</a:t>
            </a:r>
            <a:endParaRPr lang="en-US" altLang="ko-KR" sz="1800" b="1" dirty="0"/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0EFE1A48-1970-0A28-BC60-8BFB497803EA}"/>
              </a:ext>
            </a:extLst>
          </p:cNvPr>
          <p:cNvSpPr txBox="1">
            <a:spLocks/>
          </p:cNvSpPr>
          <p:nvPr/>
        </p:nvSpPr>
        <p:spPr>
          <a:xfrm>
            <a:off x="991587" y="3845462"/>
            <a:ext cx="8562113" cy="545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ko-KR" altLang="en-US" sz="1800" dirty="0"/>
              <a:t>각 파일별 평균 재구성 오류</a:t>
            </a:r>
            <a:r>
              <a:rPr lang="en-US" altLang="ko-KR" sz="1800" dirty="0"/>
              <a:t>, </a:t>
            </a:r>
            <a:r>
              <a:rPr lang="ko-KR" altLang="en-US" sz="1800" dirty="0"/>
              <a:t>고장 비율</a:t>
            </a:r>
            <a:r>
              <a:rPr lang="en-US" altLang="ko-KR" sz="1800" dirty="0"/>
              <a:t>, </a:t>
            </a:r>
            <a:r>
              <a:rPr lang="ko-KR" altLang="en-US" sz="1800" dirty="0"/>
              <a:t>최종 판별 결과 등</a:t>
            </a:r>
            <a:endParaRPr lang="en-US" altLang="ko-KR" sz="1800" b="1" dirty="0"/>
          </a:p>
        </p:txBody>
      </p:sp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3AA05B3A-3464-BECC-44F7-7C88F29645E9}"/>
              </a:ext>
            </a:extLst>
          </p:cNvPr>
          <p:cNvSpPr txBox="1">
            <a:spLocks/>
          </p:cNvSpPr>
          <p:nvPr/>
        </p:nvSpPr>
        <p:spPr>
          <a:xfrm>
            <a:off x="475009" y="4313764"/>
            <a:ext cx="11103431" cy="469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ko-KR" altLang="en-US" sz="1800" dirty="0"/>
              <a:t>확장 시</a:t>
            </a:r>
            <a:r>
              <a:rPr lang="en-US" altLang="ko-KR" sz="1800" dirty="0"/>
              <a:t>, </a:t>
            </a:r>
            <a:r>
              <a:rPr lang="ko-KR" altLang="en-US" sz="1800" b="1" dirty="0"/>
              <a:t>결과를 로그 파일</a:t>
            </a:r>
            <a:r>
              <a:rPr lang="en-US" altLang="ko-KR" sz="1800" b="1" dirty="0"/>
              <a:t>(.txt)</a:t>
            </a:r>
            <a:r>
              <a:rPr lang="ko-KR" altLang="en-US" sz="1800" b="1" dirty="0"/>
              <a:t>로 저장하거나 </a:t>
            </a:r>
            <a:r>
              <a:rPr lang="en-US" altLang="ko-KR" sz="1800" b="1" dirty="0"/>
              <a:t>CSV </a:t>
            </a:r>
            <a:r>
              <a:rPr lang="ko-KR" altLang="en-US" sz="1800" b="1" dirty="0"/>
              <a:t>파일로 결과 </a:t>
            </a:r>
            <a:r>
              <a:rPr lang="ko-KR" altLang="en-US" sz="1800" b="1" dirty="0" err="1"/>
              <a:t>리포팅</a:t>
            </a:r>
            <a:r>
              <a:rPr lang="ko-KR" altLang="en-US" sz="1800" dirty="0" err="1"/>
              <a:t>하는</a:t>
            </a:r>
            <a:r>
              <a:rPr lang="ko-KR" altLang="en-US" sz="1800" dirty="0"/>
              <a:t> 것도 가능</a:t>
            </a:r>
            <a:r>
              <a:rPr lang="en-US" altLang="ko-KR" sz="1800" dirty="0"/>
              <a:t>(</a:t>
            </a:r>
            <a:r>
              <a:rPr lang="ko-KR" altLang="en-US" sz="1800" dirty="0"/>
              <a:t>필요시 코드 수정</a:t>
            </a:r>
            <a:r>
              <a:rPr lang="en-US" altLang="ko-KR" sz="1800" dirty="0"/>
              <a:t>)</a:t>
            </a:r>
            <a:endParaRPr lang="en-US" altLang="ko-KR" sz="1800" b="1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0CC620E-3AC2-CB11-CFE3-BE6A7774CE8D}"/>
              </a:ext>
            </a:extLst>
          </p:cNvPr>
          <p:cNvSpPr txBox="1">
            <a:spLocks/>
          </p:cNvSpPr>
          <p:nvPr/>
        </p:nvSpPr>
        <p:spPr>
          <a:xfrm>
            <a:off x="991587" y="4672818"/>
            <a:ext cx="8562113" cy="545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ko-KR" altLang="en-US" sz="1800" dirty="0"/>
              <a:t>예</a:t>
            </a:r>
            <a:r>
              <a:rPr lang="en-US" altLang="ko-KR" sz="1800" dirty="0"/>
              <a:t>: </a:t>
            </a:r>
            <a:r>
              <a:rPr lang="ko-KR" altLang="en-US" sz="1800" dirty="0"/>
              <a:t>판별 결과물 </a:t>
            </a:r>
            <a:r>
              <a:rPr lang="en-US" altLang="ko-KR" sz="1800" dirty="0"/>
              <a:t>/workspace/</a:t>
            </a:r>
            <a:r>
              <a:rPr lang="en-US" altLang="ko-KR" sz="1800" dirty="0" err="1"/>
              <a:t>src</a:t>
            </a:r>
            <a:r>
              <a:rPr lang="en-US" altLang="ko-KR" sz="1800" dirty="0"/>
              <a:t>/results/ </a:t>
            </a:r>
            <a:r>
              <a:rPr lang="ko-KR" altLang="en-US" sz="1800" dirty="0"/>
              <a:t>폴더에 저장</a:t>
            </a: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769377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DD4C0-09E5-49A3-1B4A-6F2F4E4D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C787E48-6D00-6AAB-F27F-9DD599B58971}"/>
              </a:ext>
            </a:extLst>
          </p:cNvPr>
          <p:cNvSpPr/>
          <p:nvPr/>
        </p:nvSpPr>
        <p:spPr>
          <a:xfrm>
            <a:off x="1880753" y="3325258"/>
            <a:ext cx="3403765" cy="30632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7833A4F-AC01-F459-AEAE-470F91FDB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5647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사용시 참고사항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16ADB58-1037-81A7-6A41-38FF9FA2AA51}"/>
              </a:ext>
            </a:extLst>
          </p:cNvPr>
          <p:cNvSpPr txBox="1">
            <a:spLocks/>
          </p:cNvSpPr>
          <p:nvPr/>
        </p:nvSpPr>
        <p:spPr>
          <a:xfrm>
            <a:off x="220683" y="2481115"/>
            <a:ext cx="8816439" cy="4393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b="1" dirty="0"/>
              <a:t>🔹</a:t>
            </a:r>
            <a:r>
              <a:rPr lang="ko-KR" altLang="en-US" sz="2000" b="1" dirty="0"/>
              <a:t> 시각화 결과물</a:t>
            </a:r>
            <a:endParaRPr lang="en-US" altLang="ko-KR" sz="2000" b="1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454DD44-261B-83EF-575B-4280924F50D9}"/>
              </a:ext>
            </a:extLst>
          </p:cNvPr>
          <p:cNvSpPr txBox="1">
            <a:spLocks/>
          </p:cNvSpPr>
          <p:nvPr/>
        </p:nvSpPr>
        <p:spPr>
          <a:xfrm>
            <a:off x="220683" y="1021279"/>
            <a:ext cx="7177644" cy="4393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ko-KR" altLang="en-US" sz="1400" b="1" dirty="0"/>
              <a:t>🔹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GPU/CPU </a:t>
            </a:r>
            <a:r>
              <a:rPr lang="ko-KR" altLang="en-US" sz="2000" b="1" dirty="0"/>
              <a:t>환경 지원</a:t>
            </a:r>
            <a:endParaRPr lang="en-US" altLang="ko-KR" sz="2000" b="1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1191D70-A7D3-989C-EC49-CE3128D75CF9}"/>
              </a:ext>
            </a:extLst>
          </p:cNvPr>
          <p:cNvSpPr txBox="1">
            <a:spLocks/>
          </p:cNvSpPr>
          <p:nvPr/>
        </p:nvSpPr>
        <p:spPr>
          <a:xfrm>
            <a:off x="475011" y="1415088"/>
            <a:ext cx="11103431" cy="635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ko-KR" altLang="en-US" sz="1800" dirty="0"/>
              <a:t>코드 실행 시 </a:t>
            </a:r>
            <a:r>
              <a:rPr lang="en-US" altLang="ko-KR" sz="1800" b="1" dirty="0"/>
              <a:t>GPU </a:t>
            </a:r>
            <a:r>
              <a:rPr lang="ko-KR" altLang="en-US" sz="1800" b="1" dirty="0"/>
              <a:t>가용 여부를 인식</a:t>
            </a:r>
            <a:r>
              <a:rPr lang="ko-KR" altLang="en-US" sz="1800" dirty="0"/>
              <a:t>하여 </a:t>
            </a:r>
            <a:r>
              <a:rPr lang="en-US" altLang="ko-KR" sz="1800" dirty="0"/>
              <a:t>CUDA </a:t>
            </a:r>
            <a:r>
              <a:rPr lang="ko-KR" altLang="en-US" sz="1800" dirty="0"/>
              <a:t>또는 </a:t>
            </a:r>
            <a:r>
              <a:rPr lang="en-US" altLang="ko-KR" sz="1800" dirty="0"/>
              <a:t>CPU</a:t>
            </a:r>
            <a:r>
              <a:rPr lang="ko-KR" altLang="en-US" sz="1800" dirty="0"/>
              <a:t>로 동작</a:t>
            </a:r>
            <a:endParaRPr lang="en-US" altLang="ko-KR" sz="1800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323E290-C696-7251-EADB-26598C896ABF}"/>
              </a:ext>
            </a:extLst>
          </p:cNvPr>
          <p:cNvSpPr txBox="1">
            <a:spLocks/>
          </p:cNvSpPr>
          <p:nvPr/>
        </p:nvSpPr>
        <p:spPr>
          <a:xfrm>
            <a:off x="991587" y="1783760"/>
            <a:ext cx="7754591" cy="548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ko-KR" sz="1800" dirty="0"/>
              <a:t>GPU </a:t>
            </a:r>
            <a:r>
              <a:rPr lang="ko-KR" altLang="en-US" sz="1800" dirty="0"/>
              <a:t>없는 환경에서도 동작하지만 처리 속도는 차이가 발생할 수 있음</a:t>
            </a:r>
            <a:endParaRPr lang="en-US" altLang="ko-KR" sz="1800" dirty="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96597931-B916-1245-EF74-BFCE0D437CDE}"/>
              </a:ext>
            </a:extLst>
          </p:cNvPr>
          <p:cNvSpPr txBox="1">
            <a:spLocks/>
          </p:cNvSpPr>
          <p:nvPr/>
        </p:nvSpPr>
        <p:spPr>
          <a:xfrm>
            <a:off x="475010" y="2846910"/>
            <a:ext cx="11103431" cy="469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ko-KR" altLang="en-US" sz="1800" dirty="0"/>
              <a:t>모델 학습 시</a:t>
            </a:r>
            <a:r>
              <a:rPr lang="en-US" altLang="ko-KR" sz="1800" dirty="0"/>
              <a:t>, </a:t>
            </a:r>
            <a:r>
              <a:rPr lang="ko-KR" altLang="en-US" sz="1800" b="1" dirty="0"/>
              <a:t>학습 </a:t>
            </a:r>
            <a:r>
              <a:rPr lang="en-US" altLang="ko-KR" sz="1800" b="1" dirty="0"/>
              <a:t>Loss </a:t>
            </a:r>
            <a:r>
              <a:rPr lang="ko-KR" altLang="en-US" sz="1800" b="1" dirty="0"/>
              <a:t>그래프</a:t>
            </a:r>
            <a:r>
              <a:rPr lang="en-US" altLang="ko-KR" sz="1800" b="1" dirty="0"/>
              <a:t>(training_loss.png)</a:t>
            </a:r>
            <a:r>
              <a:rPr lang="ko-KR" altLang="en-US" sz="1800" b="1" dirty="0"/>
              <a:t>가 자동 저장</a:t>
            </a:r>
            <a:r>
              <a:rPr lang="ko-KR" altLang="en-US" sz="1800" dirty="0"/>
              <a:t> 됨</a:t>
            </a:r>
            <a:endParaRPr lang="en-US" altLang="ko-KR" sz="1800" b="1" dirty="0"/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DC3630B0-4A81-E69E-AA27-29C9B7B3818B}"/>
              </a:ext>
            </a:extLst>
          </p:cNvPr>
          <p:cNvSpPr txBox="1">
            <a:spLocks/>
          </p:cNvSpPr>
          <p:nvPr/>
        </p:nvSpPr>
        <p:spPr>
          <a:xfrm>
            <a:off x="991587" y="3283358"/>
            <a:ext cx="8562113" cy="545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ko-KR" altLang="en-US" sz="1800" dirty="0"/>
              <a:t>경로</a:t>
            </a:r>
            <a:r>
              <a:rPr lang="en-US" altLang="ko-KR" sz="1800" dirty="0"/>
              <a:t>: /workspace/</a:t>
            </a:r>
            <a:r>
              <a:rPr lang="en-US" altLang="ko-KR" sz="1800" dirty="0" err="1"/>
              <a:t>src</a:t>
            </a:r>
            <a:r>
              <a:rPr lang="en-US" altLang="ko-KR" sz="1800" dirty="0"/>
              <a:t>/training_loss.png</a:t>
            </a:r>
            <a:endParaRPr lang="en-US" altLang="ko-KR" sz="1800" b="1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A2C2B2C-375E-CAB7-A598-043D308F81C9}"/>
              </a:ext>
            </a:extLst>
          </p:cNvPr>
          <p:cNvSpPr txBox="1">
            <a:spLocks/>
          </p:cNvSpPr>
          <p:nvPr/>
        </p:nvSpPr>
        <p:spPr>
          <a:xfrm>
            <a:off x="976743" y="3752374"/>
            <a:ext cx="8562113" cy="545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ko-KR" altLang="en-US" sz="1800" dirty="0"/>
              <a:t>학습</a:t>
            </a:r>
            <a:r>
              <a:rPr lang="en-US" altLang="ko-KR" sz="1800" dirty="0"/>
              <a:t> </a:t>
            </a:r>
            <a:r>
              <a:rPr lang="ko-KR" altLang="en-US" sz="1800" dirty="0"/>
              <a:t>경향을 시각적으로 확인 가능</a:t>
            </a: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3956549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2811</Words>
  <Application>Microsoft Office PowerPoint</Application>
  <PresentationFormat>와이드스크린</PresentationFormat>
  <Paragraphs>307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맑은 고딕</vt:lpstr>
      <vt:lpstr>Arial</vt:lpstr>
      <vt:lpstr>Office 테마</vt:lpstr>
      <vt:lpstr>Autoencoder 기반 로봇 고장진단</vt:lpstr>
      <vt:lpstr>1. 프로젝트 구조</vt:lpstr>
      <vt:lpstr>2. Docker 환경 구성</vt:lpstr>
      <vt:lpstr>3. 주요 스크립트 사용법</vt:lpstr>
      <vt:lpstr>3. 주요 스크립트 사용법</vt:lpstr>
      <vt:lpstr>3. 주요 스크립트 사용법</vt:lpstr>
      <vt:lpstr>3. 주요 스크립트 사용법</vt:lpstr>
      <vt:lpstr>3. 주요 스크립트 사용법</vt:lpstr>
      <vt:lpstr>3. 주요 스크립트 사용법</vt:lpstr>
      <vt:lpstr>3. 주요 스크립트 사용법</vt:lpstr>
      <vt:lpstr>3. 주요 스크립트 사용법</vt:lpstr>
      <vt:lpstr>3. 주요 스크립트 사용법</vt:lpstr>
      <vt:lpstr>3. 주요 스크립트 사용법</vt:lpstr>
      <vt:lpstr>3. 주요 스크립트 사용법</vt:lpstr>
      <vt:lpstr>3. 주요 스크립트 사용법</vt:lpstr>
      <vt:lpstr>3. 주요 스크립트 사용법</vt:lpstr>
      <vt:lpstr>3. 주요 스크립트 사용법</vt:lpstr>
      <vt:lpstr>3. 주요 스크립트 사용법</vt:lpstr>
      <vt:lpstr>3. 주요 스크립트 사용법</vt:lpstr>
      <vt:lpstr>4. 데이터 파일 규격(wafer_data/)</vt:lpstr>
      <vt:lpstr>5. 사용시 참고사항</vt:lpstr>
      <vt:lpstr>5. 사용시 참고사항</vt:lpstr>
      <vt:lpstr>5. 사용시 참고사항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Jinho Lee</dc:creator>
  <cp:lastModifiedBy>Jinho Lee</cp:lastModifiedBy>
  <cp:revision>1</cp:revision>
  <dcterms:created xsi:type="dcterms:W3CDTF">2025-05-13T23:33:14Z</dcterms:created>
  <dcterms:modified xsi:type="dcterms:W3CDTF">2025-05-14T01:46:40Z</dcterms:modified>
</cp:coreProperties>
</file>